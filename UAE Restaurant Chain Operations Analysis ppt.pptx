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1119" r:id="rId2"/>
    <p:sldId id="1517" r:id="rId3"/>
    <p:sldId id="1530" r:id="rId4"/>
    <p:sldId id="1519" r:id="rId5"/>
    <p:sldId id="1526" r:id="rId6"/>
    <p:sldId id="1529" r:id="rId7"/>
    <p:sldId id="1535" r:id="rId8"/>
    <p:sldId id="1538" r:id="rId9"/>
    <p:sldId id="1539" r:id="rId10"/>
    <p:sldId id="1540" r:id="rId11"/>
    <p:sldId id="1541" r:id="rId12"/>
    <p:sldId id="1542" r:id="rId13"/>
    <p:sldId id="1527" r:id="rId14"/>
    <p:sldId id="1548" r:id="rId15"/>
    <p:sldId id="1549" r:id="rId16"/>
    <p:sldId id="1544" r:id="rId17"/>
    <p:sldId id="1537" r:id="rId18"/>
    <p:sldId id="1545" r:id="rId19"/>
    <p:sldId id="1546" r:id="rId20"/>
    <p:sldId id="1532" r:id="rId21"/>
    <p:sldId id="1533" r:id="rId22"/>
    <p:sldId id="1534" r:id="rId23"/>
    <p:sldId id="1550" r:id="rId24"/>
    <p:sldId id="1551" r:id="rId25"/>
    <p:sldId id="155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89A"/>
    <a:srgbClr val="DFF1F5"/>
    <a:srgbClr val="2CB22F"/>
    <a:srgbClr val="AEFCFC"/>
    <a:srgbClr val="E0C1FF"/>
    <a:srgbClr val="CC99FF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2023" autoAdjust="0"/>
  </p:normalViewPr>
  <p:slideViewPr>
    <p:cSldViewPr snapToGrid="0">
      <p:cViewPr varScale="1">
        <p:scale>
          <a:sx n="58" d="100"/>
          <a:sy n="58" d="100"/>
        </p:scale>
        <p:origin x="9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296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02AF-BFAC-B23A-01AF-9D3D41A06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86B48-2C9D-EEDF-240E-58077FC6E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FAD0F-CEE6-72DE-1E4A-218DA57A7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30DF0-12E6-F6E7-0010-5100E718F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31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5812973" y="2919680"/>
            <a:ext cx="621090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1219170">
              <a:buClr>
                <a:srgbClr val="000000"/>
              </a:buClr>
            </a:pP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PROJECT:</a:t>
            </a:r>
          </a:p>
          <a:p>
            <a:pPr algn="r" defTabSz="1219170">
              <a:buClr>
                <a:srgbClr val="000000"/>
              </a:buClr>
            </a:pPr>
            <a:endParaRPr lang="en-IN" sz="700" b="1" dirty="0">
              <a:solidFill>
                <a:srgbClr val="00589A"/>
              </a:solidFill>
            </a:endParaRPr>
          </a:p>
          <a:p>
            <a:pPr algn="r" defTabSz="1219170">
              <a:buClr>
                <a:srgbClr val="000000"/>
              </a:buClr>
            </a:pPr>
            <a:r>
              <a:rPr lang="en-IN" sz="2400" b="1" dirty="0">
                <a:solidFill>
                  <a:srgbClr val="00589A"/>
                </a:solidFill>
              </a:rPr>
              <a:t>UAE Restaurant Chain Operations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93DA0-7EBA-3342-D3F5-1E45F350DCC9}"/>
              </a:ext>
            </a:extLst>
          </p:cNvPr>
          <p:cNvSpPr txBox="1"/>
          <p:nvPr/>
        </p:nvSpPr>
        <p:spPr>
          <a:xfrm>
            <a:off x="5812973" y="5651995"/>
            <a:ext cx="621090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1219170">
              <a:buClr>
                <a:srgbClr val="000000"/>
              </a:buClr>
            </a:pPr>
            <a:r>
              <a:rPr lang="en-IN" sz="2400" dirty="0"/>
              <a:t>- Ekta Grewal</a:t>
            </a: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6E1A8F-62E9-61E4-AFB6-6BC1AF7151FD}"/>
              </a:ext>
            </a:extLst>
          </p:cNvPr>
          <p:cNvSpPr txBox="1"/>
          <p:nvPr/>
        </p:nvSpPr>
        <p:spPr>
          <a:xfrm>
            <a:off x="402767" y="1486848"/>
            <a:ext cx="10341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An UAE-based restaurant chain operates multiple branches across different emirates and concepts. Management requires a centralized view of sales, operational efficiency, costs, profitability and menu performance.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349588-41B0-1123-6D96-02E69F9D8260}"/>
              </a:ext>
            </a:extLst>
          </p:cNvPr>
          <p:cNvSpPr txBox="1"/>
          <p:nvPr/>
        </p:nvSpPr>
        <p:spPr>
          <a:xfrm>
            <a:off x="2797628" y="335185"/>
            <a:ext cx="6596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589A"/>
                </a:solidFill>
              </a:rPr>
              <a:t>BUSINESS CONTEXT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56ECA3-8EEB-F441-D90D-6B3927C80805}"/>
              </a:ext>
            </a:extLst>
          </p:cNvPr>
          <p:cNvSpPr txBox="1"/>
          <p:nvPr/>
        </p:nvSpPr>
        <p:spPr>
          <a:xfrm>
            <a:off x="402767" y="2789240"/>
            <a:ext cx="10341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Analysis</a:t>
            </a:r>
            <a:r>
              <a:rPr lang="en-IN" dirty="0"/>
              <a:t> </a:t>
            </a:r>
            <a:r>
              <a:rPr lang="en-IN" b="1" dirty="0"/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8A4E7B-97CD-C959-4B39-C52F7FD756A2}"/>
              </a:ext>
            </a:extLst>
          </p:cNvPr>
          <p:cNvSpPr txBox="1"/>
          <p:nvPr/>
        </p:nvSpPr>
        <p:spPr>
          <a:xfrm>
            <a:off x="402769" y="3158572"/>
            <a:ext cx="11070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The project analyzes branch, channel, menu, cost and operational performance to identify business drivers and performance gaps.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A6F09-DD6E-89C7-7879-A8F46AC631A2}"/>
              </a:ext>
            </a:extLst>
          </p:cNvPr>
          <p:cNvSpPr txBox="1"/>
          <p:nvPr/>
        </p:nvSpPr>
        <p:spPr>
          <a:xfrm>
            <a:off x="402768" y="4046127"/>
            <a:ext cx="10341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Outcome</a:t>
            </a:r>
            <a:r>
              <a:rPr lang="en-IN" dirty="0"/>
              <a:t> </a:t>
            </a:r>
            <a:r>
              <a:rPr lang="en-IN" b="1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EEF2D8-A5BF-BA8C-00D2-C998DD2F8F77}"/>
              </a:ext>
            </a:extLst>
          </p:cNvPr>
          <p:cNvSpPr txBox="1"/>
          <p:nvPr/>
        </p:nvSpPr>
        <p:spPr>
          <a:xfrm>
            <a:off x="402770" y="4415459"/>
            <a:ext cx="11070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An integrated analytics solution providing descriptive, diagnostic and predictive insights for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293440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B2932-8E61-5ACF-85AE-B4D736DC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5E8909-BD2E-7BE8-51C1-B99358E3BF75}"/>
              </a:ext>
            </a:extLst>
          </p:cNvPr>
          <p:cNvSpPr txBox="1"/>
          <p:nvPr/>
        </p:nvSpPr>
        <p:spPr>
          <a:xfrm>
            <a:off x="402768" y="1502515"/>
            <a:ext cx="10341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The restaurant group generates large amounts of operational and sales data across branches, channels and menu items. However, management needs a consolidated analytical view to identify performance gaps and understand the factors affecting revenue and profitability.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F9A474-0A49-0ADB-4568-21B60EFF8435}"/>
              </a:ext>
            </a:extLst>
          </p:cNvPr>
          <p:cNvSpPr txBox="1"/>
          <p:nvPr/>
        </p:nvSpPr>
        <p:spPr>
          <a:xfrm>
            <a:off x="2449975" y="451737"/>
            <a:ext cx="6596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589A"/>
                </a:solidFill>
              </a:rPr>
              <a:t>BUSINESS 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44E447-2825-62BD-2F34-5F40241214B8}"/>
              </a:ext>
            </a:extLst>
          </p:cNvPr>
          <p:cNvSpPr txBox="1"/>
          <p:nvPr/>
        </p:nvSpPr>
        <p:spPr>
          <a:xfrm>
            <a:off x="402769" y="2799515"/>
            <a:ext cx="10341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Challenges: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773DBB-066B-6124-D857-7B2972413FFE}"/>
              </a:ext>
            </a:extLst>
          </p:cNvPr>
          <p:cNvSpPr txBox="1"/>
          <p:nvPr/>
        </p:nvSpPr>
        <p:spPr>
          <a:xfrm>
            <a:off x="402769" y="3300635"/>
            <a:ext cx="9586183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How are revenue and order volumes changing over time?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Which order channels generate revenue and how do discounts and commissions affect them?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How do food, labour, waste and prime costs impact profitability?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Which menu categories and items contribute most to sales and margin?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Which branch, channel and menu characteristics are associated with revenue performance?</a:t>
            </a:r>
          </a:p>
        </p:txBody>
      </p:sp>
    </p:spTree>
    <p:extLst>
      <p:ext uri="{BB962C8B-B14F-4D97-AF65-F5344CB8AC3E}">
        <p14:creationId xmlns:p14="http://schemas.microsoft.com/office/powerpoint/2010/main" val="2619428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56EA-5A57-FB7C-E530-1E706121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6552CB8-B61D-CCE7-5D91-9B7278A8BB9F}"/>
              </a:ext>
            </a:extLst>
          </p:cNvPr>
          <p:cNvSpPr txBox="1"/>
          <p:nvPr/>
        </p:nvSpPr>
        <p:spPr>
          <a:xfrm>
            <a:off x="761992" y="1630444"/>
            <a:ext cx="10341429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CEO / Management</a:t>
            </a:r>
            <a:r>
              <a:rPr lang="en-IN" dirty="0"/>
              <a:t> – Overall business performance and strategic decisions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Branch Managers</a:t>
            </a:r>
            <a:r>
              <a:rPr lang="en-IN" dirty="0"/>
              <a:t> – Branch sales, orders and operational performance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Finance Team</a:t>
            </a:r>
            <a:r>
              <a:rPr lang="en-IN" dirty="0"/>
              <a:t> – Revenue, costs and profitability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Operations Team</a:t>
            </a:r>
            <a:r>
              <a:rPr lang="en-IN" dirty="0"/>
              <a:t> – Daily operations, labour and cost efficiency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7DF32E-2758-C619-7881-9922C73FF1EB}"/>
              </a:ext>
            </a:extLst>
          </p:cNvPr>
          <p:cNvSpPr txBox="1"/>
          <p:nvPr/>
        </p:nvSpPr>
        <p:spPr>
          <a:xfrm>
            <a:off x="2449976" y="451737"/>
            <a:ext cx="4240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589A"/>
                </a:solidFill>
              </a:rPr>
              <a:t>STAKEHOLDERS:</a:t>
            </a:r>
          </a:p>
        </p:txBody>
      </p:sp>
    </p:spTree>
    <p:extLst>
      <p:ext uri="{BB962C8B-B14F-4D97-AF65-F5344CB8AC3E}">
        <p14:creationId xmlns:p14="http://schemas.microsoft.com/office/powerpoint/2010/main" val="655313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9A4E8-1D20-A255-7FD7-2615890FE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4C8BBF-DB00-73AE-6C12-E39D38B5522C}"/>
              </a:ext>
            </a:extLst>
          </p:cNvPr>
          <p:cNvSpPr txBox="1"/>
          <p:nvPr/>
        </p:nvSpPr>
        <p:spPr>
          <a:xfrm>
            <a:off x="1155539" y="1618571"/>
            <a:ext cx="6680522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Analyze revenue and order trends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Compare branch and channel performance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Identify major cost drivers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Measure profitability and prime cost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Evaluate menu and category performance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Identify operational efficiency patterns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Develop a feature-based revenue prediction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D1B6E-6CBB-08A9-1E69-D95DE558A84A}"/>
              </a:ext>
            </a:extLst>
          </p:cNvPr>
          <p:cNvSpPr txBox="1"/>
          <p:nvPr/>
        </p:nvSpPr>
        <p:spPr>
          <a:xfrm>
            <a:off x="2449975" y="451737"/>
            <a:ext cx="5119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589A"/>
                </a:solidFill>
              </a:rPr>
              <a:t>BUSINESS OBJECTIVE:</a:t>
            </a:r>
          </a:p>
        </p:txBody>
      </p:sp>
    </p:spTree>
    <p:extLst>
      <p:ext uri="{BB962C8B-B14F-4D97-AF65-F5344CB8AC3E}">
        <p14:creationId xmlns:p14="http://schemas.microsoft.com/office/powerpoint/2010/main" val="2065405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626A-99AB-24CE-5F4F-39B2259C2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9098638-82B5-1EF8-B9CC-BE1EFE0EAB62}"/>
              </a:ext>
            </a:extLst>
          </p:cNvPr>
          <p:cNvSpPr txBox="1"/>
          <p:nvPr/>
        </p:nvSpPr>
        <p:spPr>
          <a:xfrm>
            <a:off x="1219200" y="359229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589A"/>
                </a:solidFill>
              </a:rPr>
              <a:t>DATA AVAILABILITY &amp; DATA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4B44C7-0A20-D476-F1BC-57BA221ADBB1}"/>
              </a:ext>
            </a:extLst>
          </p:cNvPr>
          <p:cNvSpPr txBox="1"/>
          <p:nvPr/>
        </p:nvSpPr>
        <p:spPr>
          <a:xfrm>
            <a:off x="718457" y="1472386"/>
            <a:ext cx="9622971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This project utilizes a custom-built UAE Restaurant Chain Operations database.</a:t>
            </a:r>
          </a:p>
          <a:p>
            <a:pPr>
              <a:buNone/>
            </a:pPr>
            <a:endParaRPr lang="en-IN" sz="1000" dirty="0"/>
          </a:p>
          <a:p>
            <a:pPr>
              <a:buNone/>
            </a:pPr>
            <a:r>
              <a:rPr lang="en-IN" dirty="0"/>
              <a:t>The database contains </a:t>
            </a:r>
            <a:r>
              <a:rPr lang="en-IN" b="1" dirty="0"/>
              <a:t>five related tables</a:t>
            </a:r>
            <a:r>
              <a:rPr lang="en-IN" dirty="0"/>
              <a:t> with restaurant business data about:</a:t>
            </a:r>
          </a:p>
          <a:p>
            <a:pPr>
              <a:buNone/>
            </a:pP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Branches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Daily Operations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Sales Channels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Menu Items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Monthly Item Sales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68A84F-035E-DCB1-99C3-275CC0E7C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1074"/>
              </p:ext>
            </p:extLst>
          </p:nvPr>
        </p:nvGraphicFramePr>
        <p:xfrm>
          <a:off x="718457" y="3990040"/>
          <a:ext cx="10232572" cy="2051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2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922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Aptos"/>
                        </a:rPr>
                        <a:t>Table</a:t>
                      </a:r>
                    </a:p>
                  </a:txBody>
                  <a:tcPr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Rows</a:t>
                      </a:r>
                    </a:p>
                  </a:txBody>
                  <a:tcPr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Columns</a:t>
                      </a:r>
                    </a:p>
                  </a:txBody>
                  <a:tcPr>
                    <a:solidFill>
                      <a:srgbClr val="16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Aptos"/>
                        </a:rPr>
                        <a:t>Business Content</a:t>
                      </a:r>
                    </a:p>
                  </a:txBody>
                  <a:tcPr>
                    <a:solidFill>
                      <a:srgbClr val="1622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92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BRANCHES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Branch location, concept, seats, delivery/drive-thru and 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92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DAILY_OPERATIONS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16,416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232A32"/>
                          </a:solidFill>
                          <a:latin typeface="Aptos"/>
                        </a:rPr>
                        <a:t>Daily sales, orders, covers, food/labour/waste costs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2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CHANNEL_DAILY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67,488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Daily performance by sales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2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MENU_ITEMS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98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Menu item details, price, cost, category and attributes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92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ITEM_MONTHLY_SALES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46,980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A32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232A32"/>
                          </a:solidFill>
                          <a:latin typeface="Aptos"/>
                        </a:rPr>
                        <a:t>Monthly item sales, quantity, food cost and 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88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DB513-38A1-9C59-7E3E-18579337C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21" y="876302"/>
            <a:ext cx="10357757" cy="5236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FD84BC-59C0-2436-8239-737EECEFF368}"/>
              </a:ext>
            </a:extLst>
          </p:cNvPr>
          <p:cNvSpPr txBox="1"/>
          <p:nvPr/>
        </p:nvSpPr>
        <p:spPr>
          <a:xfrm>
            <a:off x="3739241" y="242542"/>
            <a:ext cx="4713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589A"/>
                </a:solidFill>
              </a:rPr>
              <a:t>ER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2F46B6-C9C0-8580-C13B-BDB1D363090D}"/>
              </a:ext>
            </a:extLst>
          </p:cNvPr>
          <p:cNvSpPr txBox="1"/>
          <p:nvPr/>
        </p:nvSpPr>
        <p:spPr>
          <a:xfrm>
            <a:off x="129249" y="6446181"/>
            <a:ext cx="12244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The data model separates branch, operational, channel and menu information while maintaining clear relationships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169843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AC8D62-2C4E-FF0F-4C36-996104F3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83016"/>
              </p:ext>
            </p:extLst>
          </p:nvPr>
        </p:nvGraphicFramePr>
        <p:xfrm>
          <a:off x="798287" y="1127469"/>
          <a:ext cx="4850159" cy="4738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689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60447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41087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BRANCHES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34374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branch_id</a:t>
                      </a:r>
                      <a:br>
                        <a:rPr lang="en-IN" sz="1400" dirty="0"/>
                      </a:br>
                      <a:r>
                        <a:rPr lang="en-US" sz="1400" dirty="0"/>
                        <a:t>(PK)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Unique id for each branch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331163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branch_name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Trading name of the outlet.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336518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emirate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Emirate the branch trades in.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333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area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District or development within the emirate.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29317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concept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Quick Service, Café, Casual Dining or Fine Dining.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4284"/>
                  </a:ext>
                </a:extLst>
              </a:tr>
              <a:tr h="29029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seats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Covers the dining room can seat.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55228"/>
                  </a:ext>
                </a:extLst>
              </a:tr>
              <a:tr h="305926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has_drive_thru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branch has a drive-thru lane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277310"/>
                  </a:ext>
                </a:extLst>
              </a:tr>
              <a:tr h="295729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offers_delivery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when the branch delivers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978476"/>
                  </a:ext>
                </a:extLst>
              </a:tr>
              <a:tr h="305927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opened_date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Date the branch opened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24585"/>
                  </a:ext>
                </a:extLst>
              </a:tr>
              <a:tr h="295729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monthly_rent_aed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Monthly rent 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5617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331ECE2-1283-E73A-B68C-3BD6837DD295}"/>
              </a:ext>
            </a:extLst>
          </p:cNvPr>
          <p:cNvSpPr txBox="1"/>
          <p:nvPr/>
        </p:nvSpPr>
        <p:spPr>
          <a:xfrm>
            <a:off x="3516084" y="288224"/>
            <a:ext cx="4713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589A"/>
                </a:solidFill>
              </a:rPr>
              <a:t>DATA DICTONARY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D701E8-FA95-FD56-C3C7-FD4DDA851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117906"/>
              </p:ext>
            </p:extLst>
          </p:nvPr>
        </p:nvGraphicFramePr>
        <p:xfrm>
          <a:off x="6425511" y="1127469"/>
          <a:ext cx="4617738" cy="5039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268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60447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34537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MENU ITEMS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34537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307811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item_id(PK)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Unique id for each ITEM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367627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item_name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Menu name of the dish.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76308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menu_category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Appetizers, Mains, Grills, Sandwiches, Sides, Desserts, Hot Drinks or Cold Drinks.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333"/>
                  </a:ext>
                </a:extLst>
              </a:tr>
              <a:tr h="346077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menu_price_aed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Menu price per portion.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29317"/>
                  </a:ext>
                </a:extLst>
              </a:tr>
              <a:tr h="48927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item_cost_aed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Recipe cost per portion — the basis of item margin.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4284"/>
                  </a:ext>
                </a:extLst>
              </a:tr>
              <a:tr h="48927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prep_minutes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Standard preparation time, in minutes.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55228"/>
                  </a:ext>
                </a:extLst>
              </a:tr>
              <a:tr h="35980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is_vegetarian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Whether the dish is vegetarian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277310"/>
                  </a:ext>
                </a:extLst>
              </a:tr>
              <a:tr h="2912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calories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Calories per portion.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978476"/>
                  </a:ext>
                </a:extLst>
              </a:tr>
              <a:tr h="48927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is_active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No marks a dish removed from the menu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24585"/>
                  </a:ext>
                </a:extLst>
              </a:tr>
              <a:tr h="287809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launched_date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Date the dish joined the menu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56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059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1E0E0-50E7-81B9-133A-75010E469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E64EAE-A63F-8108-D235-AAE77188E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915777"/>
              </p:ext>
            </p:extLst>
          </p:nvPr>
        </p:nvGraphicFramePr>
        <p:xfrm>
          <a:off x="821436" y="1099152"/>
          <a:ext cx="4850159" cy="465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689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60447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45093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DAILY OPERATIONS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45093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37578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summary_id </a:t>
                      </a:r>
                      <a:r>
                        <a:rPr lang="en-US" sz="1400" dirty="0"/>
                        <a:t>(PK)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Unique id for each branch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37578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branch_id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Foreign key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37578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business_date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Trading date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333"/>
                  </a:ext>
                </a:extLst>
              </a:tr>
              <a:tr h="37578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business_month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Trading month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29317"/>
                  </a:ext>
                </a:extLst>
              </a:tr>
              <a:tr h="37578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day_of_week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Day name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4284"/>
                  </a:ext>
                </a:extLst>
              </a:tr>
              <a:tr h="37578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is_weekend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Yes for Saturday and Sunday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55228"/>
                  </a:ext>
                </a:extLst>
              </a:tr>
              <a:tr h="37578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orders_count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Orders across every channel.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277310"/>
                  </a:ext>
                </a:extLst>
              </a:tr>
              <a:tr h="37578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covers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Guests seated.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978476"/>
                  </a:ext>
                </a:extLst>
              </a:tr>
              <a:tr h="37578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net_sales_aed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Sales after discounts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24585"/>
                  </a:ext>
                </a:extLst>
              </a:tr>
              <a:tr h="37578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discounts_aed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Discounts - across the day.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5617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0FC300-52F1-3AD6-AA9B-867C776AC9BB}"/>
              </a:ext>
            </a:extLst>
          </p:cNvPr>
          <p:cNvSpPr txBox="1"/>
          <p:nvPr/>
        </p:nvSpPr>
        <p:spPr>
          <a:xfrm>
            <a:off x="3516084" y="288224"/>
            <a:ext cx="4713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589A"/>
                </a:solidFill>
              </a:rPr>
              <a:t>DATA DICTONARY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6B5220-9491-62B0-40B8-A181CD55E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021413"/>
              </p:ext>
            </p:extLst>
          </p:nvPr>
        </p:nvGraphicFramePr>
        <p:xfrm>
          <a:off x="6096000" y="1099151"/>
          <a:ext cx="4850159" cy="4659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689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60447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44787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DAILY OPERATIONS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44787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575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aggregator_commission_aed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Commission surrendered to delivery platforms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069909"/>
                  </a:ext>
                </a:extLst>
              </a:tr>
              <a:tr h="575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net_revenue_aed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Net sales less aggregator commission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241928"/>
                  </a:ext>
                </a:extLst>
              </a:tr>
              <a:tr h="373229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food_cost_aed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Unique id for each branch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373229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waste_cost_aed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Foreign key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373229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labour_hours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Trading date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333"/>
                  </a:ext>
                </a:extLst>
              </a:tr>
              <a:tr h="373229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labour_cost_aed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Trading month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29317"/>
                  </a:ext>
                </a:extLst>
              </a:tr>
              <a:tr h="373229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prime_cost_pct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Day name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4284"/>
                  </a:ext>
                </a:extLst>
              </a:tr>
              <a:tr h="373229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avg_review_score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Yes for Saturday and Sunday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55228"/>
                  </a:ext>
                </a:extLst>
              </a:tr>
              <a:tr h="373229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currency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Currency, constant AED.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277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387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7FF28-7722-5434-D191-19B2C62E2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528A72-CB24-7067-C2B5-534AABBA1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700893"/>
              </p:ext>
            </p:extLst>
          </p:nvPr>
        </p:nvGraphicFramePr>
        <p:xfrm>
          <a:off x="821436" y="1099152"/>
          <a:ext cx="4850159" cy="5076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689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60447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40279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CHANNEL DAILY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40279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channel_sales_id</a:t>
                      </a:r>
                      <a:r>
                        <a:rPr lang="en-US" sz="1400" dirty="0"/>
                        <a:t>(PK)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Unique id for each branch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branch_id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Foreign key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business_date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Trading date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333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business_month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Trading month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29317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day_of_week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Day name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4284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is_weekend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Yes for Saturday and Sunday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55228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orders_count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Orders across every channel.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277310"/>
                  </a:ext>
                </a:extLst>
              </a:tr>
              <a:tr h="65342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order_channel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Dine-in, Takeaway, Drive-Thru, Own Delivery or Aggregator Delivery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378979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covers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Guests seated.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978476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gross_sales_aed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Menu value before discounts.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24585"/>
                  </a:ext>
                </a:extLst>
              </a:tr>
              <a:tr h="46284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discounts_aed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Discounts given on this channel.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5617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3FC74CA-0779-3C1A-FDCC-E30112AD542C}"/>
              </a:ext>
            </a:extLst>
          </p:cNvPr>
          <p:cNvSpPr txBox="1"/>
          <p:nvPr/>
        </p:nvSpPr>
        <p:spPr>
          <a:xfrm>
            <a:off x="3516084" y="288224"/>
            <a:ext cx="4713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589A"/>
                </a:solidFill>
              </a:rPr>
              <a:t>DATA DICTONARY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854E1C-A489-38EC-F079-2B68BA5B3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21621"/>
              </p:ext>
            </p:extLst>
          </p:nvPr>
        </p:nvGraphicFramePr>
        <p:xfrm>
          <a:off x="6096000" y="1099151"/>
          <a:ext cx="4850159" cy="5115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689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60447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38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CHANNEL DAILY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38720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4976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net_sales_aed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Gross sales less discounts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069909"/>
                  </a:ext>
                </a:extLst>
              </a:tr>
              <a:tr h="4976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service_charge_aed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10% service charge. 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241928"/>
                  </a:ext>
                </a:extLst>
              </a:tr>
              <a:tr h="322667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vat_aed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UAE VAT at 5% on net sales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719533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total_billed_aed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What the guest was charged: net sales + service charge + VAT.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509669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aggregator_commission_aed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25% platform commission.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69333"/>
                  </a:ext>
                </a:extLst>
              </a:tr>
              <a:tr h="509669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net_revenue_aed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Net sales less that commission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29317"/>
                  </a:ext>
                </a:extLst>
              </a:tr>
              <a:tr h="322667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food_cost_aed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Recipe cost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4284"/>
                  </a:ext>
                </a:extLst>
              </a:tr>
              <a:tr h="322667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avg_prep_minutes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Average preparation time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55228"/>
                  </a:ext>
                </a:extLst>
              </a:tr>
              <a:tr h="299805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avg_review_score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Average guest rating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277310"/>
                  </a:ext>
                </a:extLst>
              </a:tr>
              <a:tr h="299805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currency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Currency, constant AED.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928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637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8F02F-40B9-BFA8-FBA6-A13FFF74E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A8398B-00DA-AD1F-D65B-A24F2D06E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543762"/>
              </p:ext>
            </p:extLst>
          </p:nvPr>
        </p:nvGraphicFramePr>
        <p:xfrm>
          <a:off x="3447762" y="1182495"/>
          <a:ext cx="4850159" cy="5032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689">
                  <a:extLst>
                    <a:ext uri="{9D8B030D-6E8A-4147-A177-3AD203B41FA5}">
                      <a16:colId xmlns:a16="http://schemas.microsoft.com/office/drawing/2014/main" val="4182492313"/>
                    </a:ext>
                  </a:extLst>
                </a:gridCol>
                <a:gridCol w="2604470">
                  <a:extLst>
                    <a:ext uri="{9D8B030D-6E8A-4147-A177-3AD203B41FA5}">
                      <a16:colId xmlns:a16="http://schemas.microsoft.com/office/drawing/2014/main" val="822879484"/>
                    </a:ext>
                  </a:extLst>
                </a:gridCol>
              </a:tblGrid>
              <a:tr h="40279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ITEM MONTHLY SALES</a:t>
                      </a:r>
                    </a:p>
                  </a:txBody>
                  <a:tcPr>
                    <a:solidFill>
                      <a:srgbClr val="0066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8969"/>
                  </a:ext>
                </a:extLst>
              </a:tr>
              <a:tr h="40279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269E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90943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item_sales_id</a:t>
                      </a:r>
                      <a:br>
                        <a:rPr lang="en-IN" sz="1400" dirty="0"/>
                      </a:br>
                      <a:r>
                        <a:rPr lang="en-US" sz="1400" dirty="0"/>
                        <a:t>(PK)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Unique id for each branch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1748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branch_id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Foreign key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44935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item_id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Foreign key to menu_items.item_id.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4284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menu_category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The dish's category, repeated here so menu mix needs no join.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155228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quantity_sold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Portions sold that month.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277310"/>
                  </a:ext>
                </a:extLst>
              </a:tr>
              <a:tr h="65342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gross_sales_aed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Menu value sold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378979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food_cost_aed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Recipe cost of those portions.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978476"/>
                  </a:ext>
                </a:extLst>
              </a:tr>
              <a:tr h="335664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gross_margin_aed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Sales less food cost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24585"/>
                  </a:ext>
                </a:extLst>
              </a:tr>
              <a:tr h="462842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currency</a:t>
                      </a:r>
                      <a:endParaRPr lang="en-US" sz="1400" dirty="0"/>
                    </a:p>
                  </a:txBody>
                  <a:tcPr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Currency, constant AED.</a:t>
                      </a:r>
                    </a:p>
                  </a:txBody>
                  <a:tcPr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5617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DD421E2-996D-33B9-CAF9-ECDAC7B21422}"/>
              </a:ext>
            </a:extLst>
          </p:cNvPr>
          <p:cNvSpPr txBox="1"/>
          <p:nvPr/>
        </p:nvSpPr>
        <p:spPr>
          <a:xfrm>
            <a:off x="3516084" y="288224"/>
            <a:ext cx="4713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589A"/>
                </a:solidFill>
              </a:rPr>
              <a:t>DATA DICTONARY</a:t>
            </a:r>
          </a:p>
        </p:txBody>
      </p:sp>
    </p:spTree>
    <p:extLst>
      <p:ext uri="{BB962C8B-B14F-4D97-AF65-F5344CB8AC3E}">
        <p14:creationId xmlns:p14="http://schemas.microsoft.com/office/powerpoint/2010/main" val="1393171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36E3D393-4AB4-7BF3-5A61-BFB09C9CDEAB}"/>
              </a:ext>
            </a:extLst>
          </p:cNvPr>
          <p:cNvGrpSpPr/>
          <p:nvPr/>
        </p:nvGrpSpPr>
        <p:grpSpPr>
          <a:xfrm>
            <a:off x="519525" y="2031510"/>
            <a:ext cx="3558820" cy="2906773"/>
            <a:chOff x="519525" y="2319454"/>
            <a:chExt cx="3339790" cy="173958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6B245A1-AECD-A361-6F99-34D2DBB4CA09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7A9D2EB-5F15-AA16-B97C-3E7CAC9BA582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501A38A-1A48-8467-C1DA-0305CE067B34}"/>
                </a:ext>
              </a:extLst>
            </p:cNvPr>
            <p:cNvSpPr txBox="1"/>
            <p:nvPr/>
          </p:nvSpPr>
          <p:spPr>
            <a:xfrm>
              <a:off x="670065" y="2479533"/>
              <a:ext cx="3010829" cy="221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DESCRIPTIVE ANALYSIS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61D669C-8317-2F41-D990-E66117F07852}"/>
                </a:ext>
              </a:extLst>
            </p:cNvPr>
            <p:cNvSpPr txBox="1"/>
            <p:nvPr/>
          </p:nvSpPr>
          <p:spPr>
            <a:xfrm>
              <a:off x="670065" y="2749676"/>
              <a:ext cx="2757730" cy="16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What happened?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3BC0B23-A365-9C95-0000-B00BCDBAFC19}"/>
                </a:ext>
              </a:extLst>
            </p:cNvPr>
            <p:cNvSpPr txBox="1"/>
            <p:nvPr/>
          </p:nvSpPr>
          <p:spPr>
            <a:xfrm>
              <a:off x="670066" y="3111345"/>
              <a:ext cx="2120530" cy="699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Revenue trends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Order trends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Branch performance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Channel performance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Menu performance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865132D-E8DE-7E3A-2DB6-3E65E61F554A}"/>
              </a:ext>
            </a:extLst>
          </p:cNvPr>
          <p:cNvGrpSpPr/>
          <p:nvPr/>
        </p:nvGrpSpPr>
        <p:grpSpPr>
          <a:xfrm>
            <a:off x="4316590" y="1975613"/>
            <a:ext cx="3558820" cy="2906773"/>
            <a:chOff x="519525" y="2319454"/>
            <a:chExt cx="3339790" cy="173958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CFFAB4E-1695-213A-CD68-7764684AF632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DA2364E-6D69-FE44-B574-7D8DBEDD95D0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E617917-93C0-42C1-2B00-9F6AA6C112C9}"/>
                </a:ext>
              </a:extLst>
            </p:cNvPr>
            <p:cNvSpPr txBox="1"/>
            <p:nvPr/>
          </p:nvSpPr>
          <p:spPr>
            <a:xfrm>
              <a:off x="670065" y="2479533"/>
              <a:ext cx="3010829" cy="221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DIAGNOSTIC ANALYSIS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2515F7B-EA49-3E00-F177-1788B50DB54B}"/>
                </a:ext>
              </a:extLst>
            </p:cNvPr>
            <p:cNvSpPr txBox="1"/>
            <p:nvPr/>
          </p:nvSpPr>
          <p:spPr>
            <a:xfrm>
              <a:off x="695638" y="2756763"/>
              <a:ext cx="2757730" cy="165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Why did it happen?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3111F20-5D93-83E4-518B-6F585F8A9194}"/>
                </a:ext>
              </a:extLst>
            </p:cNvPr>
            <p:cNvSpPr txBox="1"/>
            <p:nvPr/>
          </p:nvSpPr>
          <p:spPr>
            <a:xfrm>
              <a:off x="724204" y="2922832"/>
              <a:ext cx="2120530" cy="1086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Food cost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Labour cost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Waste cost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Discounts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Aggregator commissions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Prime cost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Profitability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61A804D-BBF7-01F5-8485-8663C4DC477A}"/>
              </a:ext>
            </a:extLst>
          </p:cNvPr>
          <p:cNvGrpSpPr/>
          <p:nvPr/>
        </p:nvGrpSpPr>
        <p:grpSpPr>
          <a:xfrm>
            <a:off x="8113655" y="1947662"/>
            <a:ext cx="3558820" cy="2906773"/>
            <a:chOff x="519525" y="2319454"/>
            <a:chExt cx="3339790" cy="1739588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D08BC51-211F-6DF7-AB47-23D5074BEBE5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26F1372-4292-3CFD-B7D1-12ED06550C9E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62E574B-397C-CAB6-BC4C-1CDEFEC0866C}"/>
                </a:ext>
              </a:extLst>
            </p:cNvPr>
            <p:cNvSpPr txBox="1"/>
            <p:nvPr/>
          </p:nvSpPr>
          <p:spPr>
            <a:xfrm>
              <a:off x="670065" y="2479533"/>
              <a:ext cx="3010829" cy="221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PREDICTIVE ANALYSIS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764F21C-95E4-0664-66EE-6D86DDBB834A}"/>
                </a:ext>
              </a:extLst>
            </p:cNvPr>
            <p:cNvSpPr txBox="1"/>
            <p:nvPr/>
          </p:nvSpPr>
          <p:spPr>
            <a:xfrm>
              <a:off x="695638" y="2783128"/>
              <a:ext cx="2757730" cy="27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/>
                <a:t>What can we predict from the available drivers?</a:t>
              </a:r>
              <a:endParaRPr lang="en-IN" sz="12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4AD4AD5-0417-1E4C-689F-353CAD14ACDB}"/>
                </a:ext>
              </a:extLst>
            </p:cNvPr>
            <p:cNvSpPr txBox="1"/>
            <p:nvPr/>
          </p:nvSpPr>
          <p:spPr>
            <a:xfrm>
              <a:off x="695638" y="3141980"/>
              <a:ext cx="2120530" cy="570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Revenue prediction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Feature-based business performance modelling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C31D3FC4-A202-E481-38A2-08B48BF2CC2F}"/>
              </a:ext>
            </a:extLst>
          </p:cNvPr>
          <p:cNvSpPr txBox="1"/>
          <p:nvPr/>
        </p:nvSpPr>
        <p:spPr>
          <a:xfrm>
            <a:off x="2449975" y="451737"/>
            <a:ext cx="5119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589A"/>
                </a:solidFill>
              </a:rPr>
              <a:t>ANALYSIS PLAN:</a:t>
            </a:r>
          </a:p>
        </p:txBody>
      </p:sp>
    </p:spTree>
    <p:extLst>
      <p:ext uri="{BB962C8B-B14F-4D97-AF65-F5344CB8AC3E}">
        <p14:creationId xmlns:p14="http://schemas.microsoft.com/office/powerpoint/2010/main" val="3033217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A0178-B2FF-9C80-C65E-2C22448A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963A45-2B60-C079-ACE1-C72CA7EC35B7}"/>
              </a:ext>
            </a:extLst>
          </p:cNvPr>
          <p:cNvSpPr txBox="1"/>
          <p:nvPr/>
        </p:nvSpPr>
        <p:spPr>
          <a:xfrm>
            <a:off x="594360" y="320040"/>
            <a:ext cx="80535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43A"/>
                </a:solidFill>
              </a:defRPr>
            </a:pPr>
            <a:r>
              <a:rPr sz="3200" dirty="0">
                <a:solidFill>
                  <a:srgbClr val="00589A"/>
                </a:solidFill>
              </a:rPr>
              <a:t>Technology Stack &amp; Analytical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0AFC3-68E1-FFB4-CBC9-2B65F1A588C9}"/>
              </a:ext>
            </a:extLst>
          </p:cNvPr>
          <p:cNvSpPr txBox="1"/>
          <p:nvPr/>
        </p:nvSpPr>
        <p:spPr>
          <a:xfrm>
            <a:off x="612648" y="841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06C7A"/>
                </a:solidFill>
              </a:defRPr>
            </a:pPr>
            <a:r>
              <a:rPr dirty="0"/>
              <a:t>How the project moves from raw data to decisions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00CFE8-3FE4-5930-C01C-839CA1FF0D12}"/>
              </a:ext>
            </a:extLst>
          </p:cNvPr>
          <p:cNvSpPr txBox="1"/>
          <p:nvPr/>
        </p:nvSpPr>
        <p:spPr>
          <a:xfrm>
            <a:off x="11247120" y="32004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C7A"/>
                </a:solidFill>
              </a:defRPr>
            </a:pPr>
            <a:r>
              <a:t>8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97774673-15F2-4909-FD48-F65116BB387B}"/>
              </a:ext>
            </a:extLst>
          </p:cNvPr>
          <p:cNvSpPr/>
          <p:nvPr/>
        </p:nvSpPr>
        <p:spPr>
          <a:xfrm>
            <a:off x="502920" y="1828800"/>
            <a:ext cx="2148840" cy="1508760"/>
          </a:xfrm>
          <a:prstGeom prst="roundRect">
            <a:avLst/>
          </a:prstGeom>
          <a:solidFill>
            <a:srgbClr val="E8EFF7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FC9D4E-39DD-E02F-8F4C-9174CA5064A4}"/>
              </a:ext>
            </a:extLst>
          </p:cNvPr>
          <p:cNvSpPr txBox="1"/>
          <p:nvPr/>
        </p:nvSpPr>
        <p:spPr>
          <a:xfrm>
            <a:off x="667512" y="1975104"/>
            <a:ext cx="1819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6C7A"/>
                </a:solidFill>
              </a:defRPr>
            </a:pPr>
            <a:r>
              <a:t>Excel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A6F58B-6187-7F61-C205-0EFE3783C09F}"/>
              </a:ext>
            </a:extLst>
          </p:cNvPr>
          <p:cNvSpPr txBox="1"/>
          <p:nvPr/>
        </p:nvSpPr>
        <p:spPr>
          <a:xfrm>
            <a:off x="667512" y="2304288"/>
            <a:ext cx="1819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243A"/>
                </a:solidFill>
              </a:defRPr>
            </a:pPr>
            <a:r>
              <a:rPr sz="2000" dirty="0"/>
              <a:t>Initial inspection</a:t>
            </a:r>
          </a:p>
        </p:txBody>
      </p:sp>
      <p:sp>
        <p:nvSpPr>
          <p:cNvPr id="17" name="Chevron 8">
            <a:extLst>
              <a:ext uri="{FF2B5EF4-FFF2-40B4-BE49-F238E27FC236}">
                <a16:creationId xmlns:a16="http://schemas.microsoft.com/office/drawing/2014/main" id="{DD33D716-806F-A3AA-1FB9-63A6863B2362}"/>
              </a:ext>
            </a:extLst>
          </p:cNvPr>
          <p:cNvSpPr/>
          <p:nvPr/>
        </p:nvSpPr>
        <p:spPr>
          <a:xfrm>
            <a:off x="2670048" y="2313432"/>
            <a:ext cx="384048" cy="502920"/>
          </a:xfrm>
          <a:prstGeom prst="chevron">
            <a:avLst/>
          </a:prstGeom>
          <a:solidFill>
            <a:srgbClr val="1B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AA6615A5-4744-1029-52DE-164E4737B19D}"/>
              </a:ext>
            </a:extLst>
          </p:cNvPr>
          <p:cNvSpPr/>
          <p:nvPr/>
        </p:nvSpPr>
        <p:spPr>
          <a:xfrm>
            <a:off x="2834639" y="1828800"/>
            <a:ext cx="2148840" cy="1508760"/>
          </a:xfrm>
          <a:prstGeom prst="roundRect">
            <a:avLst/>
          </a:prstGeom>
          <a:solidFill>
            <a:srgbClr val="E2F3F2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D1190B-D356-A42F-56FA-FAE284AE3963}"/>
              </a:ext>
            </a:extLst>
          </p:cNvPr>
          <p:cNvSpPr txBox="1"/>
          <p:nvPr/>
        </p:nvSpPr>
        <p:spPr>
          <a:xfrm>
            <a:off x="2999232" y="1975104"/>
            <a:ext cx="1819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6C7A"/>
                </a:solidFill>
              </a:defRPr>
            </a:pPr>
            <a:r>
              <a:t>Snowflake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AA313F-8667-2D07-A34E-22B5B118EE9C}"/>
              </a:ext>
            </a:extLst>
          </p:cNvPr>
          <p:cNvSpPr txBox="1"/>
          <p:nvPr/>
        </p:nvSpPr>
        <p:spPr>
          <a:xfrm>
            <a:off x="2999232" y="2304288"/>
            <a:ext cx="1819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243A"/>
                </a:solidFill>
              </a:defRPr>
            </a:pPr>
            <a:r>
              <a:rPr sz="2000" dirty="0"/>
              <a:t>Storage + SQL</a:t>
            </a:r>
          </a:p>
        </p:txBody>
      </p:sp>
      <p:sp>
        <p:nvSpPr>
          <p:cNvPr id="25" name="Chevron 12">
            <a:extLst>
              <a:ext uri="{FF2B5EF4-FFF2-40B4-BE49-F238E27FC236}">
                <a16:creationId xmlns:a16="http://schemas.microsoft.com/office/drawing/2014/main" id="{BA73C14C-D433-8FE5-83C6-0E42725AA2CE}"/>
              </a:ext>
            </a:extLst>
          </p:cNvPr>
          <p:cNvSpPr/>
          <p:nvPr/>
        </p:nvSpPr>
        <p:spPr>
          <a:xfrm>
            <a:off x="5001768" y="2313432"/>
            <a:ext cx="384048" cy="502920"/>
          </a:xfrm>
          <a:prstGeom prst="chevron">
            <a:avLst/>
          </a:prstGeom>
          <a:solidFill>
            <a:srgbClr val="1B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4A6112EC-0BEC-8D7E-D431-43D27736015A}"/>
              </a:ext>
            </a:extLst>
          </p:cNvPr>
          <p:cNvSpPr/>
          <p:nvPr/>
        </p:nvSpPr>
        <p:spPr>
          <a:xfrm>
            <a:off x="5166359" y="1828800"/>
            <a:ext cx="2148840" cy="1508760"/>
          </a:xfrm>
          <a:prstGeom prst="roundRect">
            <a:avLst/>
          </a:prstGeom>
          <a:solidFill>
            <a:srgbClr val="E8EFF7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D15952-A577-7C81-E7D9-C0B23FD2A3AF}"/>
              </a:ext>
            </a:extLst>
          </p:cNvPr>
          <p:cNvSpPr txBox="1"/>
          <p:nvPr/>
        </p:nvSpPr>
        <p:spPr>
          <a:xfrm>
            <a:off x="5330951" y="1975104"/>
            <a:ext cx="1819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6C7A"/>
                </a:solidFill>
              </a:defRPr>
            </a:pPr>
            <a:r>
              <a:t>Databricks / Python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189EC1-65B1-8CC8-25C8-FF7C5A2414DC}"/>
              </a:ext>
            </a:extLst>
          </p:cNvPr>
          <p:cNvSpPr txBox="1"/>
          <p:nvPr/>
        </p:nvSpPr>
        <p:spPr>
          <a:xfrm>
            <a:off x="5330951" y="2304288"/>
            <a:ext cx="1819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243A"/>
                </a:solidFill>
              </a:defRPr>
            </a:pPr>
            <a:r>
              <a:rPr sz="2000" dirty="0"/>
              <a:t>Analysis + modelling</a:t>
            </a:r>
          </a:p>
        </p:txBody>
      </p:sp>
      <p:sp>
        <p:nvSpPr>
          <p:cNvPr id="33" name="Chevron 16">
            <a:extLst>
              <a:ext uri="{FF2B5EF4-FFF2-40B4-BE49-F238E27FC236}">
                <a16:creationId xmlns:a16="http://schemas.microsoft.com/office/drawing/2014/main" id="{E017B73F-18BE-DED9-3198-E47CA3989B43}"/>
              </a:ext>
            </a:extLst>
          </p:cNvPr>
          <p:cNvSpPr/>
          <p:nvPr/>
        </p:nvSpPr>
        <p:spPr>
          <a:xfrm>
            <a:off x="7333488" y="2313432"/>
            <a:ext cx="384048" cy="502920"/>
          </a:xfrm>
          <a:prstGeom prst="chevron">
            <a:avLst/>
          </a:prstGeom>
          <a:solidFill>
            <a:srgbClr val="1B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ADCB0CCC-FED0-B4B6-6054-D519D5A7485A}"/>
              </a:ext>
            </a:extLst>
          </p:cNvPr>
          <p:cNvSpPr/>
          <p:nvPr/>
        </p:nvSpPr>
        <p:spPr>
          <a:xfrm>
            <a:off x="7498079" y="1828800"/>
            <a:ext cx="2148840" cy="1508760"/>
          </a:xfrm>
          <a:prstGeom prst="roundRect">
            <a:avLst/>
          </a:prstGeom>
          <a:solidFill>
            <a:srgbClr val="E2F3F2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5075AD-15D4-D49F-4348-9CE95C582C0B}"/>
              </a:ext>
            </a:extLst>
          </p:cNvPr>
          <p:cNvSpPr txBox="1"/>
          <p:nvPr/>
        </p:nvSpPr>
        <p:spPr>
          <a:xfrm>
            <a:off x="7662671" y="1975104"/>
            <a:ext cx="1819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6C7A"/>
                </a:solidFill>
              </a:defRPr>
            </a:pPr>
            <a:r>
              <a:t>Power BI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E4B712-CA69-25C9-AC00-2EA974FE6CB6}"/>
              </a:ext>
            </a:extLst>
          </p:cNvPr>
          <p:cNvSpPr txBox="1"/>
          <p:nvPr/>
        </p:nvSpPr>
        <p:spPr>
          <a:xfrm>
            <a:off x="7662671" y="2304288"/>
            <a:ext cx="1819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243A"/>
                </a:solidFill>
              </a:defRPr>
            </a:pPr>
            <a:r>
              <a:rPr sz="2000" dirty="0"/>
              <a:t>Interactive reporting</a:t>
            </a:r>
          </a:p>
        </p:txBody>
      </p:sp>
      <p:sp>
        <p:nvSpPr>
          <p:cNvPr id="41" name="Chevron 20">
            <a:extLst>
              <a:ext uri="{FF2B5EF4-FFF2-40B4-BE49-F238E27FC236}">
                <a16:creationId xmlns:a16="http://schemas.microsoft.com/office/drawing/2014/main" id="{87EABE16-4BDA-FD67-609F-057A3430E106}"/>
              </a:ext>
            </a:extLst>
          </p:cNvPr>
          <p:cNvSpPr/>
          <p:nvPr/>
        </p:nvSpPr>
        <p:spPr>
          <a:xfrm>
            <a:off x="9665208" y="2313432"/>
            <a:ext cx="384048" cy="502920"/>
          </a:xfrm>
          <a:prstGeom prst="chevron">
            <a:avLst/>
          </a:prstGeom>
          <a:solidFill>
            <a:srgbClr val="1B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21">
            <a:extLst>
              <a:ext uri="{FF2B5EF4-FFF2-40B4-BE49-F238E27FC236}">
                <a16:creationId xmlns:a16="http://schemas.microsoft.com/office/drawing/2014/main" id="{F963311B-98E0-697C-1C8F-C7A990156169}"/>
              </a:ext>
            </a:extLst>
          </p:cNvPr>
          <p:cNvSpPr/>
          <p:nvPr/>
        </p:nvSpPr>
        <p:spPr>
          <a:xfrm>
            <a:off x="9829800" y="1828800"/>
            <a:ext cx="2148840" cy="1508760"/>
          </a:xfrm>
          <a:prstGeom prst="roundRect">
            <a:avLst/>
          </a:prstGeom>
          <a:solidFill>
            <a:srgbClr val="E8EFF7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7C9385-860B-0BB5-0E79-D9E12DFC4C6E}"/>
              </a:ext>
            </a:extLst>
          </p:cNvPr>
          <p:cNvSpPr txBox="1"/>
          <p:nvPr/>
        </p:nvSpPr>
        <p:spPr>
          <a:xfrm>
            <a:off x="9994392" y="1975104"/>
            <a:ext cx="1819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6C7A"/>
                </a:solidFill>
              </a:defRPr>
            </a:pPr>
            <a:r>
              <a:t>PPT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9F67CF-E2AC-BA53-0E4E-AA80726EBD57}"/>
              </a:ext>
            </a:extLst>
          </p:cNvPr>
          <p:cNvSpPr txBox="1"/>
          <p:nvPr/>
        </p:nvSpPr>
        <p:spPr>
          <a:xfrm>
            <a:off x="9994392" y="2304288"/>
            <a:ext cx="1819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243A"/>
                </a:solidFill>
              </a:defRPr>
            </a:pPr>
            <a:r>
              <a:rPr sz="2000" dirty="0"/>
              <a:t>Storytelling + recommendations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9A95B8-0473-376D-4306-40C31A156622}"/>
              </a:ext>
            </a:extLst>
          </p:cNvPr>
          <p:cNvSpPr txBox="1"/>
          <p:nvPr/>
        </p:nvSpPr>
        <p:spPr>
          <a:xfrm>
            <a:off x="612648" y="405079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8B89"/>
                </a:solidFill>
              </a:defRPr>
            </a:pPr>
            <a:r>
              <a:rPr dirty="0"/>
              <a:t>Analytical flow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1670F5-74CD-5265-4FF6-35913042BC5D}"/>
              </a:ext>
            </a:extLst>
          </p:cNvPr>
          <p:cNvSpPr txBox="1"/>
          <p:nvPr/>
        </p:nvSpPr>
        <p:spPr>
          <a:xfrm>
            <a:off x="612648" y="45079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243A"/>
                </a:solidFill>
              </a:defRPr>
            </a:pPr>
            <a:r>
              <a:t>Raw tables  →  data validation  →  SQL transformations  →  analytical dataset  →  KPI analysis  →  dashboard  → 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408091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94E82C-803E-6C34-36B7-B800DD2B8128}"/>
              </a:ext>
            </a:extLst>
          </p:cNvPr>
          <p:cNvSpPr txBox="1"/>
          <p:nvPr/>
        </p:nvSpPr>
        <p:spPr>
          <a:xfrm>
            <a:off x="519525" y="418236"/>
            <a:ext cx="6923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IN" dirty="0"/>
              <a:t>Python Analysis: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7A15F37-5082-ADA2-A58A-DA4F386E367A}"/>
              </a:ext>
            </a:extLst>
          </p:cNvPr>
          <p:cNvGrpSpPr/>
          <p:nvPr/>
        </p:nvGrpSpPr>
        <p:grpSpPr>
          <a:xfrm>
            <a:off x="519525" y="1411480"/>
            <a:ext cx="11470890" cy="671463"/>
            <a:chOff x="360555" y="1174815"/>
            <a:chExt cx="11470890" cy="67146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21112F4-E522-EA65-07DD-B53DA1198D11}"/>
                </a:ext>
              </a:extLst>
            </p:cNvPr>
            <p:cNvSpPr/>
            <p:nvPr/>
          </p:nvSpPr>
          <p:spPr>
            <a:xfrm>
              <a:off x="360555" y="1174815"/>
              <a:ext cx="11152950" cy="671463"/>
            </a:xfrm>
            <a:prstGeom prst="roundRect">
              <a:avLst/>
            </a:prstGeom>
            <a:solidFill>
              <a:srgbClr val="F9FDFD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45864E-6A55-36CB-5438-9108D9AB15B4}"/>
                </a:ext>
              </a:extLst>
            </p:cNvPr>
            <p:cNvSpPr txBox="1"/>
            <p:nvPr/>
          </p:nvSpPr>
          <p:spPr>
            <a:xfrm>
              <a:off x="360557" y="1248937"/>
              <a:ext cx="114708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Objective: </a:t>
              </a:r>
              <a:r>
                <a:rPr lang="en-IN" sz="1400" dirty="0"/>
                <a:t>To analyze restaurant sales, branch, channel, menu and operational performance, and apply predictive modelling to support data-driven business decisions.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B3175BF-9A61-BA74-722E-B3E9CB28846A}"/>
              </a:ext>
            </a:extLst>
          </p:cNvPr>
          <p:cNvSpPr txBox="1"/>
          <p:nvPr/>
        </p:nvSpPr>
        <p:spPr>
          <a:xfrm>
            <a:off x="519525" y="1003011"/>
            <a:ext cx="4057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EDA, Predictive Analysis &amp; Business Insights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7EA0070-EA83-3064-AFC5-7ACDFB39D691}"/>
              </a:ext>
            </a:extLst>
          </p:cNvPr>
          <p:cNvGrpSpPr/>
          <p:nvPr/>
        </p:nvGrpSpPr>
        <p:grpSpPr>
          <a:xfrm>
            <a:off x="6510391" y="2338042"/>
            <a:ext cx="4651979" cy="1739588"/>
            <a:chOff x="519525" y="2319454"/>
            <a:chExt cx="3339790" cy="17395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8FFA987-83E2-E033-1B42-849DC4CA37EA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2FD25D6-D294-15DE-6CF7-CCCEE8E66161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DEFD0A-C768-1A10-7932-2D20EA061BC1}"/>
                </a:ext>
              </a:extLst>
            </p:cNvPr>
            <p:cNvSpPr txBox="1"/>
            <p:nvPr/>
          </p:nvSpPr>
          <p:spPr>
            <a:xfrm>
              <a:off x="670066" y="2453733"/>
              <a:ext cx="3010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Channel &amp; Menu Analysis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836BD2A-BEF1-0C99-487F-3C6C864E935F}"/>
                </a:ext>
              </a:extLst>
            </p:cNvPr>
            <p:cNvSpPr txBox="1"/>
            <p:nvPr/>
          </p:nvSpPr>
          <p:spPr>
            <a:xfrm>
              <a:off x="670066" y="2753382"/>
              <a:ext cx="297745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 dirty="0"/>
                <a:t>Evaluate sales contribution across channels and menu categories.</a:t>
              </a:r>
              <a:endParaRPr lang="en-I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468F55-8DD2-1477-CF97-2BADED6E4659}"/>
                </a:ext>
              </a:extLst>
            </p:cNvPr>
            <p:cNvSpPr txBox="1"/>
            <p:nvPr/>
          </p:nvSpPr>
          <p:spPr>
            <a:xfrm>
              <a:off x="670066" y="3075057"/>
              <a:ext cx="21205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Revenue by Order Channel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Gross Sales by Menu Category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Quantity Sold by Menu Category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Category-wise Sales Performance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DA2C78-13D7-02E7-3CBC-06ACEC97BCBC}"/>
              </a:ext>
            </a:extLst>
          </p:cNvPr>
          <p:cNvGrpSpPr/>
          <p:nvPr/>
        </p:nvGrpSpPr>
        <p:grpSpPr>
          <a:xfrm>
            <a:off x="671925" y="2371495"/>
            <a:ext cx="4559540" cy="1739588"/>
            <a:chOff x="519525" y="2319454"/>
            <a:chExt cx="3339790" cy="173958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4A3CBBB-D628-1858-1C10-DA4C5FFF4AD3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61CFB2-A527-5B8D-C418-086CED4C4068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CC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3E59596-CD61-626B-3DF7-157BBA09BA62}"/>
                </a:ext>
              </a:extLst>
            </p:cNvPr>
            <p:cNvSpPr txBox="1"/>
            <p:nvPr/>
          </p:nvSpPr>
          <p:spPr>
            <a:xfrm>
              <a:off x="670066" y="2453733"/>
              <a:ext cx="3010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Sales &amp; Revenue Analysis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8FDECC-59F2-03F5-9371-6175D649A574}"/>
                </a:ext>
              </a:extLst>
            </p:cNvPr>
            <p:cNvSpPr txBox="1"/>
            <p:nvPr/>
          </p:nvSpPr>
          <p:spPr>
            <a:xfrm>
              <a:off x="670066" y="2753382"/>
              <a:ext cx="286639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 dirty="0"/>
                <a:t>Understand revenue trends and restaurant sales performance.</a:t>
              </a:r>
              <a:endParaRPr lang="en-I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C764F4-4837-62A0-2AE8-E3F3B4243B66}"/>
                </a:ext>
              </a:extLst>
            </p:cNvPr>
            <p:cNvSpPr txBox="1"/>
            <p:nvPr/>
          </p:nvSpPr>
          <p:spPr>
            <a:xfrm>
              <a:off x="670066" y="3075057"/>
              <a:ext cx="21205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Monthly Revenue Trend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Monthly Orders Trend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Revenue by Branch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Weekend vs Weekday Revenue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A58999E-5B0A-6E12-45BB-B9F5A6A2C05D}"/>
              </a:ext>
            </a:extLst>
          </p:cNvPr>
          <p:cNvGrpSpPr/>
          <p:nvPr/>
        </p:nvGrpSpPr>
        <p:grpSpPr>
          <a:xfrm>
            <a:off x="671925" y="4433034"/>
            <a:ext cx="4651979" cy="1739588"/>
            <a:chOff x="519525" y="2319454"/>
            <a:chExt cx="3339790" cy="1739588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6C3D3AC-8838-E7C8-786B-1AD9746CF75B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E58383-17F8-9115-8154-00878AD3FF4A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360DFBE-777A-BA04-03A0-C070AE29C509}"/>
                </a:ext>
              </a:extLst>
            </p:cNvPr>
            <p:cNvSpPr txBox="1"/>
            <p:nvPr/>
          </p:nvSpPr>
          <p:spPr>
            <a:xfrm>
              <a:off x="670066" y="2453733"/>
              <a:ext cx="3010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Cost &amp; Operational Analysis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36E8309-FB7E-3594-346F-317617BC2FAF}"/>
                </a:ext>
              </a:extLst>
            </p:cNvPr>
            <p:cNvSpPr txBox="1"/>
            <p:nvPr/>
          </p:nvSpPr>
          <p:spPr>
            <a:xfrm>
              <a:off x="670066" y="2753382"/>
              <a:ext cx="234564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 dirty="0"/>
                <a:t>Analyze restaurant costs and operational efficiency.</a:t>
              </a:r>
              <a:endParaRPr lang="en-I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EFEB127-4ED4-A64E-AE8C-B4F19D023F37}"/>
                </a:ext>
              </a:extLst>
            </p:cNvPr>
            <p:cNvSpPr txBox="1"/>
            <p:nvPr/>
          </p:nvSpPr>
          <p:spPr>
            <a:xfrm>
              <a:off x="670066" y="3075057"/>
              <a:ext cx="212053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Revenue vs Food Cost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Branch-wise Prime Cost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Prime Cost % by Branch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Food &amp; Labour Cost Analysis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268942-D84F-9CAD-411A-694A17407EEE}"/>
              </a:ext>
            </a:extLst>
          </p:cNvPr>
          <p:cNvGrpSpPr/>
          <p:nvPr/>
        </p:nvGrpSpPr>
        <p:grpSpPr>
          <a:xfrm>
            <a:off x="6521545" y="4416307"/>
            <a:ext cx="4651979" cy="1739588"/>
            <a:chOff x="519525" y="2319454"/>
            <a:chExt cx="3339790" cy="1739588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E28E2E8-9BF3-7D2F-9851-D2DB0C00CAAB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B3C05DA-E859-83B4-8794-F33ACB0DC0ED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E6A1F5-31E7-7D4B-2CCA-83979FE38940}"/>
                </a:ext>
              </a:extLst>
            </p:cNvPr>
            <p:cNvSpPr txBox="1"/>
            <p:nvPr/>
          </p:nvSpPr>
          <p:spPr>
            <a:xfrm>
              <a:off x="670066" y="2453733"/>
              <a:ext cx="30108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Revenue Prediction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1D200E9-7B9E-5E95-84EE-F9644B2187A0}"/>
                </a:ext>
              </a:extLst>
            </p:cNvPr>
            <p:cNvSpPr txBox="1"/>
            <p:nvPr/>
          </p:nvSpPr>
          <p:spPr>
            <a:xfrm>
              <a:off x="670066" y="2753382"/>
              <a:ext cx="304190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50" dirty="0"/>
                <a:t>Predict restaurant revenue using business and operational features.</a:t>
              </a:r>
              <a:endParaRPr lang="en-IN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078771-5F4B-0623-CE3E-F72128E6A5E1}"/>
                </a:ext>
              </a:extLst>
            </p:cNvPr>
            <p:cNvSpPr txBox="1"/>
            <p:nvPr/>
          </p:nvSpPr>
          <p:spPr>
            <a:xfrm>
              <a:off x="670066" y="3075057"/>
              <a:ext cx="2120530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Linear Regression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R2 Score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MAE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050" dirty="0"/>
                <a:t>MSE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Actual vs Predicted Revenue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B515D01-495C-24B0-0ABF-7DE7222FFD20}"/>
              </a:ext>
            </a:extLst>
          </p:cNvPr>
          <p:cNvSpPr txBox="1"/>
          <p:nvPr/>
        </p:nvSpPr>
        <p:spPr>
          <a:xfrm>
            <a:off x="519525" y="6336523"/>
            <a:ext cx="10152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KEY FINDINGS: </a:t>
            </a:r>
          </a:p>
          <a:p>
            <a:r>
              <a:rPr lang="en-IN" sz="1400" dirty="0">
                <a:solidFill>
                  <a:schemeClr val="bg1"/>
                </a:solidFill>
              </a:rPr>
              <a:t>No Missing Values | No Duplicate Records | No Negative Values | R²: 97.68% | MAE: AED 2,756.69 | RMSE: AED 3,976.36</a:t>
            </a:r>
          </a:p>
        </p:txBody>
      </p:sp>
    </p:spTree>
    <p:extLst>
      <p:ext uri="{BB962C8B-B14F-4D97-AF65-F5344CB8AC3E}">
        <p14:creationId xmlns:p14="http://schemas.microsoft.com/office/powerpoint/2010/main" val="3648226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8B270D-1014-1192-29FA-967914D4228D}"/>
              </a:ext>
            </a:extLst>
          </p:cNvPr>
          <p:cNvSpPr txBox="1"/>
          <p:nvPr/>
        </p:nvSpPr>
        <p:spPr>
          <a:xfrm>
            <a:off x="594360" y="306587"/>
            <a:ext cx="98755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0589A"/>
                </a:solidFill>
              </a:rPr>
              <a:t>PREDICTIVE MODELING APPROACH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5D036-89CA-588E-EF82-042532564494}"/>
              </a:ext>
            </a:extLst>
          </p:cNvPr>
          <p:cNvSpPr txBox="1"/>
          <p:nvPr/>
        </p:nvSpPr>
        <p:spPr>
          <a:xfrm>
            <a:off x="594360" y="1083607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E2328"/>
                </a:solidFill>
              </a:rPr>
              <a:t>Feature-based revenue prediction in Databricks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E5D564A4-F205-33A3-9D48-35A38482849B}"/>
              </a:ext>
            </a:extLst>
          </p:cNvPr>
          <p:cNvSpPr/>
          <p:nvPr/>
        </p:nvSpPr>
        <p:spPr>
          <a:xfrm>
            <a:off x="594360" y="1788588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5E33E5-78B6-3B27-980A-7EF4B46AF17D}"/>
              </a:ext>
            </a:extLst>
          </p:cNvPr>
          <p:cNvSpPr/>
          <p:nvPr/>
        </p:nvSpPr>
        <p:spPr>
          <a:xfrm>
            <a:off x="594360" y="1788588"/>
            <a:ext cx="91440" cy="1572768"/>
          </a:xfrm>
          <a:prstGeom prst="rect">
            <a:avLst/>
          </a:prstGeom>
          <a:solidFill>
            <a:srgbClr val="B04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4306BB-7CA6-2B88-9AFA-D177045E9C48}"/>
              </a:ext>
            </a:extLst>
          </p:cNvPr>
          <p:cNvSpPr txBox="1"/>
          <p:nvPr/>
        </p:nvSpPr>
        <p:spPr>
          <a:xfrm>
            <a:off x="822960" y="195318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328"/>
                </a:solidFill>
              </a:rPr>
              <a:t>01  Data Preparation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D12BD1-C6B3-DDF2-5C83-79C20CA69757}"/>
              </a:ext>
            </a:extLst>
          </p:cNvPr>
          <p:cNvSpPr txBox="1"/>
          <p:nvPr/>
        </p:nvSpPr>
        <p:spPr>
          <a:xfrm>
            <a:off x="822960" y="2291508"/>
            <a:ext cx="27432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1E2328"/>
                </a:solidFill>
              </a:rPr>
              <a:t>Clean branch, channel, menu and operational datasets.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C2201DDA-3AC1-C2BA-E7D2-9D89040B3E8B}"/>
              </a:ext>
            </a:extLst>
          </p:cNvPr>
          <p:cNvSpPr/>
          <p:nvPr/>
        </p:nvSpPr>
        <p:spPr>
          <a:xfrm>
            <a:off x="4069080" y="1788588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B1771C-24B8-1FFF-7CBE-8B6854F715FC}"/>
              </a:ext>
            </a:extLst>
          </p:cNvPr>
          <p:cNvSpPr/>
          <p:nvPr/>
        </p:nvSpPr>
        <p:spPr>
          <a:xfrm>
            <a:off x="4069080" y="1788588"/>
            <a:ext cx="91440" cy="1572768"/>
          </a:xfrm>
          <a:prstGeom prst="rect">
            <a:avLst/>
          </a:prstGeom>
          <a:solidFill>
            <a:srgbClr val="1875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38BF96-0B55-7A3C-869F-CDA633CF6BCF}"/>
              </a:ext>
            </a:extLst>
          </p:cNvPr>
          <p:cNvSpPr txBox="1"/>
          <p:nvPr/>
        </p:nvSpPr>
        <p:spPr>
          <a:xfrm>
            <a:off x="4297680" y="195318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E2328"/>
                </a:solidFill>
              </a:rPr>
              <a:t>02  Feature Engineering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844FF2-D91A-6987-F5FB-376838F9C5FB}"/>
              </a:ext>
            </a:extLst>
          </p:cNvPr>
          <p:cNvSpPr txBox="1"/>
          <p:nvPr/>
        </p:nvSpPr>
        <p:spPr>
          <a:xfrm>
            <a:off x="4297680" y="2291508"/>
            <a:ext cx="27432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1E2328"/>
                </a:solidFill>
              </a:rPr>
              <a:t>Create branch, channel, menu and operational features.</a:t>
            </a: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67D73966-B6C1-F3A2-7821-D177D87EAF6F}"/>
              </a:ext>
            </a:extLst>
          </p:cNvPr>
          <p:cNvSpPr/>
          <p:nvPr/>
        </p:nvSpPr>
        <p:spPr>
          <a:xfrm>
            <a:off x="7543800" y="1788588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BD1301-6952-BCCB-AF68-700DAF246853}"/>
              </a:ext>
            </a:extLst>
          </p:cNvPr>
          <p:cNvSpPr/>
          <p:nvPr/>
        </p:nvSpPr>
        <p:spPr>
          <a:xfrm>
            <a:off x="7543800" y="1788588"/>
            <a:ext cx="91440" cy="1572768"/>
          </a:xfrm>
          <a:prstGeom prst="rect">
            <a:avLst/>
          </a:prstGeom>
          <a:solidFill>
            <a:srgbClr val="1A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84D771-0E88-04B6-9195-12945999D01E}"/>
              </a:ext>
            </a:extLst>
          </p:cNvPr>
          <p:cNvSpPr txBox="1"/>
          <p:nvPr/>
        </p:nvSpPr>
        <p:spPr>
          <a:xfrm>
            <a:off x="7772400" y="195318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328"/>
                </a:solidFill>
              </a:rPr>
              <a:t>03  Feature Selection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E7BC77-11D4-77F3-9416-62EC4B5D2D81}"/>
              </a:ext>
            </a:extLst>
          </p:cNvPr>
          <p:cNvSpPr txBox="1"/>
          <p:nvPr/>
        </p:nvSpPr>
        <p:spPr>
          <a:xfrm>
            <a:off x="7772400" y="2291508"/>
            <a:ext cx="27432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328"/>
                </a:solidFill>
              </a:rPr>
              <a:t>Select relevant numerical and categorical variables.</a:t>
            </a:r>
          </a:p>
        </p:txBody>
      </p:sp>
      <p:sp>
        <p:nvSpPr>
          <p:cNvPr id="35" name="Rounded Rectangle 16">
            <a:extLst>
              <a:ext uri="{FF2B5EF4-FFF2-40B4-BE49-F238E27FC236}">
                <a16:creationId xmlns:a16="http://schemas.microsoft.com/office/drawing/2014/main" id="{375D5E47-8431-EF4A-4B97-F57EC611E9A1}"/>
              </a:ext>
            </a:extLst>
          </p:cNvPr>
          <p:cNvSpPr/>
          <p:nvPr/>
        </p:nvSpPr>
        <p:spPr>
          <a:xfrm>
            <a:off x="594360" y="3845988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6A7718-6CCD-1697-08C0-D91E6DB69AB2}"/>
              </a:ext>
            </a:extLst>
          </p:cNvPr>
          <p:cNvSpPr/>
          <p:nvPr/>
        </p:nvSpPr>
        <p:spPr>
          <a:xfrm>
            <a:off x="594360" y="3845988"/>
            <a:ext cx="91440" cy="1572768"/>
          </a:xfrm>
          <a:prstGeom prst="rect">
            <a:avLst/>
          </a:prstGeom>
          <a:solidFill>
            <a:srgbClr val="F48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8C8102-2824-79DF-1B14-A8D47E0C7E63}"/>
              </a:ext>
            </a:extLst>
          </p:cNvPr>
          <p:cNvSpPr txBox="1"/>
          <p:nvPr/>
        </p:nvSpPr>
        <p:spPr>
          <a:xfrm>
            <a:off x="822960" y="401058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328"/>
                </a:solidFill>
              </a:rPr>
              <a:t>04  Train / Test Split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476386-79E1-7A70-6394-A19FCCF135D5}"/>
              </a:ext>
            </a:extLst>
          </p:cNvPr>
          <p:cNvSpPr txBox="1"/>
          <p:nvPr/>
        </p:nvSpPr>
        <p:spPr>
          <a:xfrm>
            <a:off x="822960" y="4348908"/>
            <a:ext cx="27432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328"/>
                </a:solidFill>
              </a:rPr>
              <a:t>80% training • 20% testing • random_state = 42.</a:t>
            </a:r>
          </a:p>
        </p:txBody>
      </p:sp>
      <p:sp>
        <p:nvSpPr>
          <p:cNvPr id="43" name="Rounded Rectangle 20">
            <a:extLst>
              <a:ext uri="{FF2B5EF4-FFF2-40B4-BE49-F238E27FC236}">
                <a16:creationId xmlns:a16="http://schemas.microsoft.com/office/drawing/2014/main" id="{E7581E58-3C32-EFF7-5CDB-E1B0E22C27A6}"/>
              </a:ext>
            </a:extLst>
          </p:cNvPr>
          <p:cNvSpPr/>
          <p:nvPr/>
        </p:nvSpPr>
        <p:spPr>
          <a:xfrm>
            <a:off x="4069080" y="3845988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BC435B2-65CF-6097-CFCD-2CFD683C9C86}"/>
              </a:ext>
            </a:extLst>
          </p:cNvPr>
          <p:cNvSpPr/>
          <p:nvPr/>
        </p:nvSpPr>
        <p:spPr>
          <a:xfrm>
            <a:off x="4069080" y="3845988"/>
            <a:ext cx="91440" cy="1572768"/>
          </a:xfrm>
          <a:prstGeom prst="rect">
            <a:avLst/>
          </a:prstGeom>
          <a:solidFill>
            <a:srgbClr val="39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DA31B4-4A4E-E4F8-70C1-A4D66B327BFF}"/>
              </a:ext>
            </a:extLst>
          </p:cNvPr>
          <p:cNvSpPr txBox="1"/>
          <p:nvPr/>
        </p:nvSpPr>
        <p:spPr>
          <a:xfrm>
            <a:off x="4297680" y="401058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328"/>
                </a:solidFill>
              </a:rPr>
              <a:t>05  Linear Regression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AA0544-16B3-1C37-85F4-F0EBD9FC7915}"/>
              </a:ext>
            </a:extLst>
          </p:cNvPr>
          <p:cNvSpPr txBox="1"/>
          <p:nvPr/>
        </p:nvSpPr>
        <p:spPr>
          <a:xfrm>
            <a:off x="4297680" y="4348908"/>
            <a:ext cx="2743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328"/>
                </a:solidFill>
              </a:rPr>
              <a:t>Revenue used as the target variable.</a:t>
            </a:r>
          </a:p>
        </p:txBody>
      </p:sp>
      <p:sp>
        <p:nvSpPr>
          <p:cNvPr id="51" name="Rounded Rectangle 24">
            <a:extLst>
              <a:ext uri="{FF2B5EF4-FFF2-40B4-BE49-F238E27FC236}">
                <a16:creationId xmlns:a16="http://schemas.microsoft.com/office/drawing/2014/main" id="{061A7B66-774C-8B69-EB35-246002D91A0A}"/>
              </a:ext>
            </a:extLst>
          </p:cNvPr>
          <p:cNvSpPr/>
          <p:nvPr/>
        </p:nvSpPr>
        <p:spPr>
          <a:xfrm>
            <a:off x="7543800" y="3845988"/>
            <a:ext cx="31546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C42B6F2-6313-2235-DCDC-531AD47C8E25}"/>
              </a:ext>
            </a:extLst>
          </p:cNvPr>
          <p:cNvSpPr/>
          <p:nvPr/>
        </p:nvSpPr>
        <p:spPr>
          <a:xfrm>
            <a:off x="7543800" y="3845988"/>
            <a:ext cx="91440" cy="1572768"/>
          </a:xfrm>
          <a:prstGeom prst="rect">
            <a:avLst/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449416-A1F6-4462-FAC8-00557ADE9CF9}"/>
              </a:ext>
            </a:extLst>
          </p:cNvPr>
          <p:cNvSpPr txBox="1"/>
          <p:nvPr/>
        </p:nvSpPr>
        <p:spPr>
          <a:xfrm>
            <a:off x="7772400" y="401058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328"/>
                </a:solidFill>
              </a:rPr>
              <a:t>06  Evaluation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1F6E662-0105-D3AD-F574-0649F0C03FE7}"/>
              </a:ext>
            </a:extLst>
          </p:cNvPr>
          <p:cNvSpPr txBox="1"/>
          <p:nvPr/>
        </p:nvSpPr>
        <p:spPr>
          <a:xfrm>
            <a:off x="7772400" y="4348908"/>
            <a:ext cx="2743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328"/>
                </a:solidFill>
              </a:rPr>
              <a:t>MAE • RMSE • R² • Actual vs Predicted.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D7BBE7-2C4E-7FD3-5ED2-9A2A854E6470}"/>
              </a:ext>
            </a:extLst>
          </p:cNvPr>
          <p:cNvSpPr txBox="1"/>
          <p:nvPr/>
        </p:nvSpPr>
        <p:spPr>
          <a:xfrm>
            <a:off x="594360" y="6510528"/>
            <a:ext cx="10515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chemeClr val="bg1"/>
                </a:solidFill>
              </a:rPr>
              <a:t>The current model uses same-period business features. Describe it as feature-based revenue prediction, not as a true time-series future forecast.</a:t>
            </a:r>
          </a:p>
        </p:txBody>
      </p:sp>
    </p:spTree>
    <p:extLst>
      <p:ext uri="{BB962C8B-B14F-4D97-AF65-F5344CB8AC3E}">
        <p14:creationId xmlns:p14="http://schemas.microsoft.com/office/powerpoint/2010/main" val="198999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A2AA2-C486-77C5-A95F-C87B6F116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8ADB1CC2-EFFF-32B9-EA28-20FC49F0DA5E}"/>
              </a:ext>
            </a:extLst>
          </p:cNvPr>
          <p:cNvGrpSpPr/>
          <p:nvPr/>
        </p:nvGrpSpPr>
        <p:grpSpPr>
          <a:xfrm>
            <a:off x="519525" y="2772938"/>
            <a:ext cx="3558820" cy="2906773"/>
            <a:chOff x="519525" y="2319454"/>
            <a:chExt cx="3339790" cy="173958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1A064F5A-6A9C-634C-0577-8E0E3803FF95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9296959-553A-54C5-7571-7E9B0101F6C8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EF3FC7D-0D1A-452B-2EB8-2D830305ADB5}"/>
                </a:ext>
              </a:extLst>
            </p:cNvPr>
            <p:cNvSpPr txBox="1"/>
            <p:nvPr/>
          </p:nvSpPr>
          <p:spPr>
            <a:xfrm>
              <a:off x="670065" y="2479533"/>
              <a:ext cx="3010829" cy="221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Executive Overview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EFE1F3C-1ADC-A0B1-BF3E-14BAE6BA9F87}"/>
                </a:ext>
              </a:extLst>
            </p:cNvPr>
            <p:cNvSpPr txBox="1"/>
            <p:nvPr/>
          </p:nvSpPr>
          <p:spPr>
            <a:xfrm>
              <a:off x="670065" y="2749676"/>
              <a:ext cx="2757730" cy="27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Monitor overall business performance, profitability, growth.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B747394-FE3D-CCD1-FF4C-D10C8B5D3770}"/>
                </a:ext>
              </a:extLst>
            </p:cNvPr>
            <p:cNvSpPr txBox="1"/>
            <p:nvPr/>
          </p:nvSpPr>
          <p:spPr>
            <a:xfrm>
              <a:off x="670066" y="3111345"/>
              <a:ext cx="2120530" cy="699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Revenue &amp; Orders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AOV &amp; Gross Margin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Prime Cost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Net Profit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Monthly Trends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CB8ABC3-1EEB-25A9-961C-D28A0E00EE3F}"/>
              </a:ext>
            </a:extLst>
          </p:cNvPr>
          <p:cNvGrpSpPr/>
          <p:nvPr/>
        </p:nvGrpSpPr>
        <p:grpSpPr>
          <a:xfrm>
            <a:off x="4316590" y="2717040"/>
            <a:ext cx="3558820" cy="2906773"/>
            <a:chOff x="519525" y="2319454"/>
            <a:chExt cx="3339790" cy="173958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FBEC53B-39E1-C98A-064F-54FBCE10A723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E0331C9-4B64-212F-158F-C3F377455B0A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55C66CE-1D0F-DCA9-A94F-FB87BDE0B705}"/>
                </a:ext>
              </a:extLst>
            </p:cNvPr>
            <p:cNvSpPr txBox="1"/>
            <p:nvPr/>
          </p:nvSpPr>
          <p:spPr>
            <a:xfrm>
              <a:off x="670065" y="2479533"/>
              <a:ext cx="3010829" cy="221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Branch &amp; Operations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3ECC5AD-672D-E90A-CF98-5263D305B9D2}"/>
                </a:ext>
              </a:extLst>
            </p:cNvPr>
            <p:cNvSpPr txBox="1"/>
            <p:nvPr/>
          </p:nvSpPr>
          <p:spPr>
            <a:xfrm>
              <a:off x="695638" y="2783128"/>
              <a:ext cx="2757730" cy="27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Evaluate Branch &amp; Operational Performance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D23AB49-4277-3C8E-57F2-B4725D0192E3}"/>
                </a:ext>
              </a:extLst>
            </p:cNvPr>
            <p:cNvSpPr txBox="1"/>
            <p:nvPr/>
          </p:nvSpPr>
          <p:spPr>
            <a:xfrm>
              <a:off x="695638" y="3141980"/>
              <a:ext cx="2120530" cy="828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Branch Revenue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Orders &amp; AOV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Food Cost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Labour Cost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Prime Cost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Weekend vs Weekday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4CF7083-4910-546D-FBF3-6A7AD42B5948}"/>
              </a:ext>
            </a:extLst>
          </p:cNvPr>
          <p:cNvGrpSpPr/>
          <p:nvPr/>
        </p:nvGrpSpPr>
        <p:grpSpPr>
          <a:xfrm>
            <a:off x="8113655" y="2689090"/>
            <a:ext cx="3558820" cy="2906773"/>
            <a:chOff x="519525" y="2319454"/>
            <a:chExt cx="3339790" cy="1739588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2AF1BAC8-9F6A-D66E-9AF9-C6A27962CF11}"/>
                </a:ext>
              </a:extLst>
            </p:cNvPr>
            <p:cNvSpPr/>
            <p:nvPr/>
          </p:nvSpPr>
          <p:spPr>
            <a:xfrm>
              <a:off x="569705" y="2319454"/>
              <a:ext cx="3289610" cy="1706135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F6D7824-A9ED-F610-FD7F-29FBCBA5EDB9}"/>
                </a:ext>
              </a:extLst>
            </p:cNvPr>
            <p:cNvSpPr/>
            <p:nvPr/>
          </p:nvSpPr>
          <p:spPr>
            <a:xfrm>
              <a:off x="519525" y="2352907"/>
              <a:ext cx="84745" cy="1706135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E88C66E-1CA0-6683-1386-B67EC1509767}"/>
                </a:ext>
              </a:extLst>
            </p:cNvPr>
            <p:cNvSpPr txBox="1"/>
            <p:nvPr/>
          </p:nvSpPr>
          <p:spPr>
            <a:xfrm>
              <a:off x="670065" y="2479533"/>
              <a:ext cx="3010829" cy="221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Menu &amp; Profitability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BCE5B90-B22D-29AA-AD13-8DF3049F8AF9}"/>
                </a:ext>
              </a:extLst>
            </p:cNvPr>
            <p:cNvSpPr txBox="1"/>
            <p:nvPr/>
          </p:nvSpPr>
          <p:spPr>
            <a:xfrm>
              <a:off x="695638" y="2783128"/>
              <a:ext cx="2757730" cy="276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Measure Menu Performance &amp; Profitability.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94F497F-C8D0-C52D-FC48-290214C8DD69}"/>
                </a:ext>
              </a:extLst>
            </p:cNvPr>
            <p:cNvSpPr txBox="1"/>
            <p:nvPr/>
          </p:nvSpPr>
          <p:spPr>
            <a:xfrm>
              <a:off x="695638" y="3141980"/>
              <a:ext cx="2120530" cy="699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Category Sales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Quantity Sold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Gross Margin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Top Menu Items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/>
                <a:t>Margin %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3C13B69A-BBC9-5014-CF54-71CBC40EAE43}"/>
              </a:ext>
            </a:extLst>
          </p:cNvPr>
          <p:cNvSpPr txBox="1"/>
          <p:nvPr/>
        </p:nvSpPr>
        <p:spPr>
          <a:xfrm>
            <a:off x="519525" y="418236"/>
            <a:ext cx="6923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IN" dirty="0"/>
              <a:t>Power BI Dashboard: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0918451-1744-F786-97A8-AD908B938ACB}"/>
              </a:ext>
            </a:extLst>
          </p:cNvPr>
          <p:cNvGrpSpPr/>
          <p:nvPr/>
        </p:nvGrpSpPr>
        <p:grpSpPr>
          <a:xfrm>
            <a:off x="519525" y="1622284"/>
            <a:ext cx="11009227" cy="671463"/>
            <a:chOff x="360555" y="1174815"/>
            <a:chExt cx="11152950" cy="671463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476F8F62-B60B-85A0-828F-242CBDEB1228}"/>
                </a:ext>
              </a:extLst>
            </p:cNvPr>
            <p:cNvSpPr/>
            <p:nvPr/>
          </p:nvSpPr>
          <p:spPr>
            <a:xfrm>
              <a:off x="360555" y="1174815"/>
              <a:ext cx="11152950" cy="671463"/>
            </a:xfrm>
            <a:prstGeom prst="roundRect">
              <a:avLst/>
            </a:prstGeom>
            <a:solidFill>
              <a:srgbClr val="F9FDFD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B1E2A4A-7C59-962C-6971-6E644049DB54}"/>
                </a:ext>
              </a:extLst>
            </p:cNvPr>
            <p:cNvSpPr txBox="1"/>
            <p:nvPr/>
          </p:nvSpPr>
          <p:spPr>
            <a:xfrm>
              <a:off x="360557" y="1248937"/>
              <a:ext cx="111529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Objective: </a:t>
              </a:r>
              <a:r>
                <a:rPr lang="en-IN" sz="1400" dirty="0"/>
                <a:t>To develop interactive Power BI dashboards that monitor key business performance evaluate branch &amp; Operational performance helping stakeholders identify trends and make data-driven decisions.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DDABEC2-2CDB-1ADB-3069-E916FDD6031E}"/>
              </a:ext>
            </a:extLst>
          </p:cNvPr>
          <p:cNvSpPr txBox="1"/>
          <p:nvPr/>
        </p:nvSpPr>
        <p:spPr>
          <a:xfrm>
            <a:off x="519525" y="1003011"/>
            <a:ext cx="49664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Interactive Dashboards for Data-Driven Decision Making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25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EE4AB6-FE16-BB4F-F6D3-5429D00FDED3}"/>
              </a:ext>
            </a:extLst>
          </p:cNvPr>
          <p:cNvSpPr txBox="1"/>
          <p:nvPr/>
        </p:nvSpPr>
        <p:spPr>
          <a:xfrm>
            <a:off x="609600" y="298269"/>
            <a:ext cx="7509172" cy="52937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200" b="1" dirty="0">
                <a:solidFill>
                  <a:srgbClr val="00589A"/>
                </a:solidFill>
                <a:latin typeface="Aptos"/>
              </a:rPr>
              <a:t>EDA </a:t>
            </a:r>
            <a:r>
              <a:rPr lang="en-IN" sz="3200" b="1" dirty="0">
                <a:solidFill>
                  <a:srgbClr val="00589A"/>
                </a:solidFill>
                <a:latin typeface="Aptos"/>
              </a:rPr>
              <a:t> - </a:t>
            </a:r>
            <a:r>
              <a:rPr sz="3200" b="1" dirty="0">
                <a:solidFill>
                  <a:srgbClr val="00589A"/>
                </a:solidFill>
                <a:latin typeface="Aptos"/>
              </a:rPr>
              <a:t>SALES &amp; BRANCH PERFORMANCE</a:t>
            </a:r>
          </a:p>
        </p:txBody>
      </p:sp>
      <p:cxnSp>
        <p:nvCxnSpPr>
          <p:cNvPr id="6" name="Connector 4">
            <a:extLst>
              <a:ext uri="{FF2B5EF4-FFF2-40B4-BE49-F238E27FC236}">
                <a16:creationId xmlns:a16="http://schemas.microsoft.com/office/drawing/2014/main" id="{D777DB97-BFBA-D71A-23E8-84DC9C6923A6}"/>
              </a:ext>
            </a:extLst>
          </p:cNvPr>
          <p:cNvCxnSpPr/>
          <p:nvPr/>
        </p:nvCxnSpPr>
        <p:spPr>
          <a:xfrm>
            <a:off x="609600" y="1203525"/>
            <a:ext cx="11000232" cy="0"/>
          </a:xfrm>
          <a:prstGeom prst="line">
            <a:avLst/>
          </a:prstGeom>
          <a:ln w="12700">
            <a:solidFill>
              <a:srgbClr val="364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58C56E-0274-E291-5E79-E6149F2C9726}"/>
              </a:ext>
            </a:extLst>
          </p:cNvPr>
          <p:cNvSpPr txBox="1"/>
          <p:nvPr/>
        </p:nvSpPr>
        <p:spPr>
          <a:xfrm>
            <a:off x="701040" y="1395549"/>
            <a:ext cx="8995604" cy="28315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lang="en-IN" sz="1600" dirty="0"/>
              <a:t>Branch-level comparison highlights differences in revenue, order volume and average order value. </a:t>
            </a:r>
            <a:endParaRPr sz="1500" b="0" dirty="0">
              <a:latin typeface="Apto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52A1D4-61D2-8894-7F4C-BF1446E4F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1" y="1959510"/>
            <a:ext cx="5097875" cy="288311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7698532-D0FE-535E-3628-BD39B035B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877" y="1959510"/>
            <a:ext cx="5410955" cy="3112351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C963478B-B169-64B1-5EAB-796C9468B3D6}"/>
              </a:ext>
            </a:extLst>
          </p:cNvPr>
          <p:cNvGrpSpPr/>
          <p:nvPr/>
        </p:nvGrpSpPr>
        <p:grpSpPr>
          <a:xfrm>
            <a:off x="469501" y="5225591"/>
            <a:ext cx="2356458" cy="708569"/>
            <a:chOff x="469501" y="5225591"/>
            <a:chExt cx="2356458" cy="708569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EFFD575-0D75-B3D9-DD54-7D5A83030ED4}"/>
                </a:ext>
              </a:extLst>
            </p:cNvPr>
            <p:cNvSpPr/>
            <p:nvPr/>
          </p:nvSpPr>
          <p:spPr>
            <a:xfrm>
              <a:off x="910575" y="5225591"/>
              <a:ext cx="1543048" cy="708569"/>
            </a:xfrm>
            <a:prstGeom prst="rect">
              <a:avLst/>
            </a:prstGeom>
            <a:solidFill>
              <a:srgbClr val="DFF1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D058605-9188-7084-F420-150879DDC706}"/>
                </a:ext>
              </a:extLst>
            </p:cNvPr>
            <p:cNvSpPr txBox="1"/>
            <p:nvPr/>
          </p:nvSpPr>
          <p:spPr>
            <a:xfrm>
              <a:off x="469501" y="5267418"/>
              <a:ext cx="23564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2">
                      <a:lumMod val="50000"/>
                      <a:lumOff val="50000"/>
                    </a:schemeClr>
                  </a:solidFill>
                </a:rPr>
                <a:t>TOTAL REVENUE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3C06999-C77D-DE2A-4E69-80A998BF43BD}"/>
                </a:ext>
              </a:extLst>
            </p:cNvPr>
            <p:cNvSpPr txBox="1"/>
            <p:nvPr/>
          </p:nvSpPr>
          <p:spPr>
            <a:xfrm>
              <a:off x="1239184" y="5507070"/>
              <a:ext cx="926857" cy="338554"/>
            </a:xfrm>
            <a:prstGeom prst="rect">
              <a:avLst/>
            </a:prstGeom>
            <a:solidFill>
              <a:srgbClr val="DFF1F5"/>
            </a:solidFill>
          </p:spPr>
          <p:txBody>
            <a:bodyPr wrap="none" rtlCol="0">
              <a:spAutoFit/>
            </a:bodyPr>
            <a:lstStyle/>
            <a:p>
              <a:r>
                <a:rPr lang="en-IN" sz="1600" b="1" dirty="0"/>
                <a:t>495.3 M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692EBD3-07CF-B1DF-EBFA-2865C5D22165}"/>
              </a:ext>
            </a:extLst>
          </p:cNvPr>
          <p:cNvGrpSpPr/>
          <p:nvPr/>
        </p:nvGrpSpPr>
        <p:grpSpPr>
          <a:xfrm>
            <a:off x="2272787" y="5225590"/>
            <a:ext cx="2356458" cy="708569"/>
            <a:chOff x="2779920" y="5227535"/>
            <a:chExt cx="2356458" cy="708569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C195C05-BF0A-5EAD-99CD-F82CCFECE328}"/>
                </a:ext>
              </a:extLst>
            </p:cNvPr>
            <p:cNvSpPr/>
            <p:nvPr/>
          </p:nvSpPr>
          <p:spPr>
            <a:xfrm>
              <a:off x="3244302" y="5227535"/>
              <a:ext cx="1543048" cy="708569"/>
            </a:xfrm>
            <a:prstGeom prst="rect">
              <a:avLst/>
            </a:prstGeom>
            <a:solidFill>
              <a:srgbClr val="DFF1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CC83312-DDB8-B002-3CE2-2D77C26DEDD2}"/>
                </a:ext>
              </a:extLst>
            </p:cNvPr>
            <p:cNvSpPr txBox="1"/>
            <p:nvPr/>
          </p:nvSpPr>
          <p:spPr>
            <a:xfrm>
              <a:off x="2779920" y="5269531"/>
              <a:ext cx="23564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2">
                      <a:lumMod val="50000"/>
                      <a:lumOff val="50000"/>
                    </a:schemeClr>
                  </a:solidFill>
                </a:rPr>
                <a:t>TOTAL ORDERS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CF8791C-479E-3D72-13DC-7144B34C1889}"/>
                </a:ext>
              </a:extLst>
            </p:cNvPr>
            <p:cNvSpPr txBox="1"/>
            <p:nvPr/>
          </p:nvSpPr>
          <p:spPr>
            <a:xfrm>
              <a:off x="3521136" y="5507070"/>
              <a:ext cx="755335" cy="34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b="1" dirty="0"/>
                <a:t>1.94M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01965BA-BC66-3BC5-5167-952550A1DDAF}"/>
              </a:ext>
            </a:extLst>
          </p:cNvPr>
          <p:cNvGrpSpPr/>
          <p:nvPr/>
        </p:nvGrpSpPr>
        <p:grpSpPr>
          <a:xfrm>
            <a:off x="4563763" y="5225590"/>
            <a:ext cx="1543048" cy="697324"/>
            <a:chOff x="5403159" y="5227536"/>
            <a:chExt cx="1649794" cy="708569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8334386-3F64-BDF6-DA2A-57D328B33B1B}"/>
                </a:ext>
              </a:extLst>
            </p:cNvPr>
            <p:cNvSpPr/>
            <p:nvPr/>
          </p:nvSpPr>
          <p:spPr>
            <a:xfrm>
              <a:off x="5509905" y="5227536"/>
              <a:ext cx="1543048" cy="708569"/>
            </a:xfrm>
            <a:prstGeom prst="rect">
              <a:avLst/>
            </a:prstGeom>
            <a:solidFill>
              <a:srgbClr val="DFF1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0BA522F-B9BF-6442-7C3C-2469DABDB457}"/>
                </a:ext>
              </a:extLst>
            </p:cNvPr>
            <p:cNvSpPr txBox="1"/>
            <p:nvPr/>
          </p:nvSpPr>
          <p:spPr>
            <a:xfrm>
              <a:off x="5403159" y="5275082"/>
              <a:ext cx="15430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2">
                      <a:lumMod val="50000"/>
                      <a:lumOff val="50000"/>
                    </a:schemeClr>
                  </a:solidFill>
                </a:rPr>
                <a:t>AOV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4BD17B0-F3AA-CFA8-0338-E0845B7C3F22}"/>
                </a:ext>
              </a:extLst>
            </p:cNvPr>
            <p:cNvSpPr txBox="1"/>
            <p:nvPr/>
          </p:nvSpPr>
          <p:spPr>
            <a:xfrm>
              <a:off x="5645745" y="5507070"/>
              <a:ext cx="7760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600" b="1" dirty="0"/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1922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5E57D-D5D1-6268-D16D-B62080246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354A80-93C4-5DFC-B00F-928814A3AFC5}"/>
              </a:ext>
            </a:extLst>
          </p:cNvPr>
          <p:cNvSpPr txBox="1"/>
          <p:nvPr/>
        </p:nvSpPr>
        <p:spPr>
          <a:xfrm>
            <a:off x="609600" y="298269"/>
            <a:ext cx="8359468" cy="52937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3200" b="1" dirty="0">
                <a:solidFill>
                  <a:srgbClr val="00589A"/>
                </a:solidFill>
              </a:rPr>
              <a:t>EDA </a:t>
            </a:r>
            <a:r>
              <a:rPr lang="en-IN" sz="3200" b="1" dirty="0">
                <a:solidFill>
                  <a:srgbClr val="00589A"/>
                </a:solidFill>
              </a:rPr>
              <a:t> - CHANNEL &amp; COST PERFORMANCE</a:t>
            </a:r>
            <a:endParaRPr sz="3200" b="1" dirty="0">
              <a:solidFill>
                <a:srgbClr val="00589A"/>
              </a:solidFill>
            </a:endParaRPr>
          </a:p>
        </p:txBody>
      </p:sp>
      <p:cxnSp>
        <p:nvCxnSpPr>
          <p:cNvPr id="6" name="Connector 4">
            <a:extLst>
              <a:ext uri="{FF2B5EF4-FFF2-40B4-BE49-F238E27FC236}">
                <a16:creationId xmlns:a16="http://schemas.microsoft.com/office/drawing/2014/main" id="{A8C29B9B-06FB-4CAB-7942-8BD72133861A}"/>
              </a:ext>
            </a:extLst>
          </p:cNvPr>
          <p:cNvCxnSpPr/>
          <p:nvPr/>
        </p:nvCxnSpPr>
        <p:spPr>
          <a:xfrm>
            <a:off x="609600" y="1203525"/>
            <a:ext cx="11000232" cy="0"/>
          </a:xfrm>
          <a:prstGeom prst="line">
            <a:avLst/>
          </a:prstGeom>
          <a:ln w="12700">
            <a:solidFill>
              <a:srgbClr val="364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C08E52A-AA15-A1A7-CDA4-4D1B6DC0714F}"/>
              </a:ext>
            </a:extLst>
          </p:cNvPr>
          <p:cNvSpPr txBox="1"/>
          <p:nvPr/>
        </p:nvSpPr>
        <p:spPr>
          <a:xfrm>
            <a:off x="701040" y="1395548"/>
            <a:ext cx="10592394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IN" sz="1600" dirty="0"/>
              <a:t>Channel sales should be evaluated alongside discounts and commissions, while food and labour costs remain key drivers of prime cost and profitability.</a:t>
            </a:r>
            <a:endParaRPr sz="1500" b="0" dirty="0">
              <a:latin typeface="Apto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DA32D7-A242-908D-59BC-392BC97B8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92" y="2236503"/>
            <a:ext cx="6188631" cy="2885460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464E88FF-0153-5E46-2D0B-8DC1BB351526}"/>
              </a:ext>
            </a:extLst>
          </p:cNvPr>
          <p:cNvGrpSpPr/>
          <p:nvPr/>
        </p:nvGrpSpPr>
        <p:grpSpPr>
          <a:xfrm>
            <a:off x="7766262" y="1924924"/>
            <a:ext cx="3785645" cy="2780245"/>
            <a:chOff x="7754600" y="2011994"/>
            <a:chExt cx="3785645" cy="2780245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3680D26D-8E3B-0800-2B8A-5D7527A18B49}"/>
                </a:ext>
              </a:extLst>
            </p:cNvPr>
            <p:cNvSpPr/>
            <p:nvPr/>
          </p:nvSpPr>
          <p:spPr>
            <a:xfrm>
              <a:off x="7754600" y="2011994"/>
              <a:ext cx="3785645" cy="2780245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7EFB3A-1E50-CB42-AE25-5EE3B6F5A250}"/>
                </a:ext>
              </a:extLst>
            </p:cNvPr>
            <p:cNvSpPr txBox="1"/>
            <p:nvPr/>
          </p:nvSpPr>
          <p:spPr>
            <a:xfrm>
              <a:off x="8067685" y="2207374"/>
              <a:ext cx="2266711" cy="283154"/>
            </a:xfrm>
            <a:prstGeom prst="rect">
              <a:avLst/>
            </a:prstGeom>
            <a:noFill/>
          </p:spPr>
          <p:txBody>
            <a:bodyPr wrap="none" lIns="18288" tIns="18288" rIns="18288" bIns="18288" anchor="t">
              <a:spAutoFit/>
            </a:bodyPr>
            <a:lstStyle/>
            <a:p>
              <a:r>
                <a:rPr lang="en-IN" sz="1600" b="1" dirty="0">
                  <a:solidFill>
                    <a:srgbClr val="00589A"/>
                  </a:solidFill>
                </a:rPr>
                <a:t>COST PERFORMANCE</a:t>
              </a:r>
              <a:endParaRPr sz="1600" b="1" dirty="0">
                <a:solidFill>
                  <a:srgbClr val="00589A"/>
                </a:solidFill>
                <a:latin typeface="Aptos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4DFAD9B-E258-FB9A-A73B-FA7E1839C24A}"/>
                </a:ext>
              </a:extLst>
            </p:cNvPr>
            <p:cNvGrpSpPr/>
            <p:nvPr/>
          </p:nvGrpSpPr>
          <p:grpSpPr>
            <a:xfrm>
              <a:off x="8040433" y="2850234"/>
              <a:ext cx="2866001" cy="221386"/>
              <a:chOff x="8067685" y="2850555"/>
              <a:chExt cx="2866001" cy="221386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96745FE3-8827-431D-C8C5-40697AD82DE8}"/>
                  </a:ext>
                </a:extLst>
              </p:cNvPr>
              <p:cNvGrpSpPr/>
              <p:nvPr/>
            </p:nvGrpSpPr>
            <p:grpSpPr>
              <a:xfrm>
                <a:off x="8920429" y="2850555"/>
                <a:ext cx="2013257" cy="190821"/>
                <a:chOff x="8920429" y="2850555"/>
                <a:chExt cx="2013257" cy="190821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9F5C3862-9F67-BAA4-03E9-11637D0BD36A}"/>
                    </a:ext>
                  </a:extLst>
                </p:cNvPr>
                <p:cNvGrpSpPr/>
                <p:nvPr/>
              </p:nvGrpSpPr>
              <p:grpSpPr>
                <a:xfrm>
                  <a:off x="8920429" y="2880360"/>
                  <a:ext cx="1531620" cy="161016"/>
                  <a:chOff x="8920429" y="2880360"/>
                  <a:chExt cx="1531620" cy="161016"/>
                </a:xfrm>
              </p:grpSpPr>
              <p:sp>
                <p:nvSpPr>
                  <p:cNvPr id="14" name="Rounded Rectangle 24">
                    <a:extLst>
                      <a:ext uri="{FF2B5EF4-FFF2-40B4-BE49-F238E27FC236}">
                        <a16:creationId xmlns:a16="http://schemas.microsoft.com/office/drawing/2014/main" id="{C2C1BBBA-B7A7-EF2E-EF18-ACBB47D8BBE4}"/>
                      </a:ext>
                    </a:extLst>
                  </p:cNvPr>
                  <p:cNvSpPr/>
                  <p:nvPr/>
                </p:nvSpPr>
                <p:spPr>
                  <a:xfrm>
                    <a:off x="8920429" y="2880360"/>
                    <a:ext cx="1531620" cy="146304"/>
                  </a:xfrm>
                  <a:prstGeom prst="roundRect">
                    <a:avLst/>
                  </a:prstGeom>
                  <a:solidFill>
                    <a:srgbClr val="364760"/>
                  </a:solidFill>
                  <a:ln w="12700">
                    <a:solidFill>
                      <a:srgbClr val="36476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16" name="Rounded Rectangle 25">
                    <a:extLst>
                      <a:ext uri="{FF2B5EF4-FFF2-40B4-BE49-F238E27FC236}">
                        <a16:creationId xmlns:a16="http://schemas.microsoft.com/office/drawing/2014/main" id="{52F12E25-E042-01DD-711B-6FAAACAC25E2}"/>
                      </a:ext>
                    </a:extLst>
                  </p:cNvPr>
                  <p:cNvSpPr/>
                  <p:nvPr/>
                </p:nvSpPr>
                <p:spPr>
                  <a:xfrm>
                    <a:off x="8920429" y="2880360"/>
                    <a:ext cx="568345" cy="161016"/>
                  </a:xfrm>
                  <a:prstGeom prst="roundRect">
                    <a:avLst/>
                  </a:prstGeom>
                  <a:solidFill>
                    <a:srgbClr val="23C6B0"/>
                  </a:solidFill>
                  <a:ln w="12700">
                    <a:solidFill>
                      <a:srgbClr val="23C6B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/>
                  </a:p>
                </p:txBody>
              </p:sp>
            </p:grp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13E052E-63DB-0B9B-ED08-F74F223CFD32}"/>
                    </a:ext>
                  </a:extLst>
                </p:cNvPr>
                <p:cNvSpPr txBox="1"/>
                <p:nvPr/>
              </p:nvSpPr>
              <p:spPr>
                <a:xfrm>
                  <a:off x="10544092" y="2850555"/>
                  <a:ext cx="389594" cy="190821"/>
                </a:xfrm>
                <a:prstGeom prst="rect">
                  <a:avLst/>
                </a:prstGeom>
                <a:noFill/>
              </p:spPr>
              <p:txBody>
                <a:bodyPr wrap="none" lIns="18288" tIns="18288" rIns="18288" bIns="18288" anchor="t">
                  <a:spAutoFit/>
                </a:bodyPr>
                <a:lstStyle/>
                <a:p>
                  <a:pPr algn="r"/>
                  <a:r>
                    <a:rPr lang="en-IN" sz="1000" b="1" dirty="0">
                      <a:latin typeface="Aptos"/>
                    </a:rPr>
                    <a:t>35.6%</a:t>
                  </a:r>
                  <a:endParaRPr sz="1000" b="1" dirty="0">
                    <a:latin typeface="Aptos"/>
                  </a:endParaRPr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DCA73C-A865-70E3-EAF4-1825DAB38A93}"/>
                  </a:ext>
                </a:extLst>
              </p:cNvPr>
              <p:cNvSpPr txBox="1"/>
              <p:nvPr/>
            </p:nvSpPr>
            <p:spPr>
              <a:xfrm>
                <a:off x="8067685" y="2881120"/>
                <a:ext cx="739048" cy="190821"/>
              </a:xfrm>
              <a:prstGeom prst="rect">
                <a:avLst/>
              </a:prstGeom>
              <a:noFill/>
            </p:spPr>
            <p:txBody>
              <a:bodyPr wrap="none" lIns="18288" tIns="18288" rIns="18288" bIns="18288" anchor="t">
                <a:spAutoFit/>
              </a:bodyPr>
              <a:lstStyle/>
              <a:p>
                <a:pPr algn="l"/>
                <a:r>
                  <a:rPr lang="en-IN" sz="1000" b="1" dirty="0">
                    <a:latin typeface="Aptos"/>
                  </a:rPr>
                  <a:t>FOOD COST</a:t>
                </a:r>
                <a:endParaRPr sz="1000" b="1" dirty="0">
                  <a:latin typeface="Aptos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95B7341-70CB-07B6-FEA4-5F04F2E7D9E0}"/>
                </a:ext>
              </a:extLst>
            </p:cNvPr>
            <p:cNvGrpSpPr/>
            <p:nvPr/>
          </p:nvGrpSpPr>
          <p:grpSpPr>
            <a:xfrm>
              <a:off x="8022911" y="3255980"/>
              <a:ext cx="2893253" cy="195033"/>
              <a:chOff x="8040433" y="3174221"/>
              <a:chExt cx="2893253" cy="195033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50DD211-4422-56A8-0053-93C13C47561D}"/>
                  </a:ext>
                </a:extLst>
              </p:cNvPr>
              <p:cNvGrpSpPr/>
              <p:nvPr/>
            </p:nvGrpSpPr>
            <p:grpSpPr>
              <a:xfrm>
                <a:off x="8920429" y="3174221"/>
                <a:ext cx="2013257" cy="190821"/>
                <a:chOff x="8920429" y="3174221"/>
                <a:chExt cx="2013257" cy="190821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742251A7-4BC5-37FD-22A4-1BF1DAD9CEE4}"/>
                    </a:ext>
                  </a:extLst>
                </p:cNvPr>
                <p:cNvGrpSpPr/>
                <p:nvPr/>
              </p:nvGrpSpPr>
              <p:grpSpPr>
                <a:xfrm>
                  <a:off x="8920429" y="3213743"/>
                  <a:ext cx="1531620" cy="146304"/>
                  <a:chOff x="8920429" y="3474720"/>
                  <a:chExt cx="1531620" cy="146304"/>
                </a:xfrm>
              </p:grpSpPr>
              <p:sp>
                <p:nvSpPr>
                  <p:cNvPr id="18" name="Rounded Rectangle 28">
                    <a:extLst>
                      <a:ext uri="{FF2B5EF4-FFF2-40B4-BE49-F238E27FC236}">
                        <a16:creationId xmlns:a16="http://schemas.microsoft.com/office/drawing/2014/main" id="{2E7947C4-EE83-C6CB-EF36-BC8FE4D53E8A}"/>
                      </a:ext>
                    </a:extLst>
                  </p:cNvPr>
                  <p:cNvSpPr/>
                  <p:nvPr/>
                </p:nvSpPr>
                <p:spPr>
                  <a:xfrm>
                    <a:off x="8920429" y="3474720"/>
                    <a:ext cx="1531620" cy="146304"/>
                  </a:xfrm>
                  <a:prstGeom prst="roundRect">
                    <a:avLst/>
                  </a:prstGeom>
                  <a:solidFill>
                    <a:srgbClr val="364760"/>
                  </a:solidFill>
                  <a:ln w="12700">
                    <a:solidFill>
                      <a:srgbClr val="36476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20" name="Rounded Rectangle 29">
                    <a:extLst>
                      <a:ext uri="{FF2B5EF4-FFF2-40B4-BE49-F238E27FC236}">
                        <a16:creationId xmlns:a16="http://schemas.microsoft.com/office/drawing/2014/main" id="{56041D3C-62E6-4854-488C-9C845F282B1F}"/>
                      </a:ext>
                    </a:extLst>
                  </p:cNvPr>
                  <p:cNvSpPr/>
                  <p:nvPr/>
                </p:nvSpPr>
                <p:spPr>
                  <a:xfrm>
                    <a:off x="8920429" y="3474720"/>
                    <a:ext cx="776215" cy="145032"/>
                  </a:xfrm>
                  <a:prstGeom prst="roundRect">
                    <a:avLst/>
                  </a:prstGeom>
                  <a:solidFill>
                    <a:srgbClr val="4FB9FF"/>
                  </a:solidFill>
                  <a:ln w="12700">
                    <a:solidFill>
                      <a:srgbClr val="4FB9FF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</p:grp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2BDB617-C606-321D-835B-7A087E23595C}"/>
                    </a:ext>
                  </a:extLst>
                </p:cNvPr>
                <p:cNvSpPr txBox="1"/>
                <p:nvPr/>
              </p:nvSpPr>
              <p:spPr>
                <a:xfrm>
                  <a:off x="10544092" y="3174221"/>
                  <a:ext cx="389594" cy="190821"/>
                </a:xfrm>
                <a:prstGeom prst="rect">
                  <a:avLst/>
                </a:prstGeom>
                <a:noFill/>
              </p:spPr>
              <p:txBody>
                <a:bodyPr wrap="none" lIns="18288" tIns="18288" rIns="18288" bIns="18288" anchor="t">
                  <a:spAutoFit/>
                </a:bodyPr>
                <a:lstStyle/>
                <a:p>
                  <a:pPr algn="r"/>
                  <a:r>
                    <a:rPr lang="en-IN" sz="1000" b="1" dirty="0">
                      <a:latin typeface="Aptos"/>
                    </a:rPr>
                    <a:t>41.6%</a:t>
                  </a:r>
                  <a:endParaRPr sz="1000" b="1" dirty="0">
                    <a:latin typeface="Aptos"/>
                  </a:endParaRPr>
                </a:p>
              </p:txBody>
            </p: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A8154F2-EC9A-3779-7680-0E44885C38D3}"/>
                  </a:ext>
                </a:extLst>
              </p:cNvPr>
              <p:cNvSpPr txBox="1"/>
              <p:nvPr/>
            </p:nvSpPr>
            <p:spPr>
              <a:xfrm>
                <a:off x="8040433" y="3178433"/>
                <a:ext cx="766300" cy="190821"/>
              </a:xfrm>
              <a:prstGeom prst="rect">
                <a:avLst/>
              </a:prstGeom>
              <a:noFill/>
            </p:spPr>
            <p:txBody>
              <a:bodyPr wrap="none" lIns="18288" tIns="18288" rIns="18288" bIns="18288" anchor="t">
                <a:spAutoFit/>
              </a:bodyPr>
              <a:lstStyle/>
              <a:p>
                <a:pPr algn="l"/>
                <a:r>
                  <a:rPr lang="en-IN" sz="1000" b="1" dirty="0">
                    <a:latin typeface="Aptos"/>
                  </a:rPr>
                  <a:t>PRIME COST</a:t>
                </a:r>
                <a:endParaRPr sz="1000" b="1" dirty="0">
                  <a:latin typeface="Aptos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1177003-77C7-A433-1A9A-BB9E256947E2}"/>
                </a:ext>
              </a:extLst>
            </p:cNvPr>
            <p:cNvGrpSpPr/>
            <p:nvPr/>
          </p:nvGrpSpPr>
          <p:grpSpPr>
            <a:xfrm>
              <a:off x="8022911" y="3627199"/>
              <a:ext cx="2931725" cy="228363"/>
              <a:chOff x="8001961" y="3544696"/>
              <a:chExt cx="2931725" cy="22836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37B82FE6-33B1-5910-8300-5F0953F30512}"/>
                  </a:ext>
                </a:extLst>
              </p:cNvPr>
              <p:cNvGrpSpPr/>
              <p:nvPr/>
            </p:nvGrpSpPr>
            <p:grpSpPr>
              <a:xfrm>
                <a:off x="8920429" y="3544696"/>
                <a:ext cx="2013257" cy="190821"/>
                <a:chOff x="8920429" y="3544696"/>
                <a:chExt cx="2013257" cy="190821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DD9DDBE3-EBD5-62D7-394B-3B1AC1764317}"/>
                    </a:ext>
                  </a:extLst>
                </p:cNvPr>
                <p:cNvGrpSpPr/>
                <p:nvPr/>
              </p:nvGrpSpPr>
              <p:grpSpPr>
                <a:xfrm>
                  <a:off x="8920429" y="3568474"/>
                  <a:ext cx="1531620" cy="161015"/>
                  <a:chOff x="8920429" y="3807934"/>
                  <a:chExt cx="1531620" cy="161015"/>
                </a:xfrm>
              </p:grpSpPr>
              <p:sp>
                <p:nvSpPr>
                  <p:cNvPr id="30" name="Rounded Rectangle 32">
                    <a:extLst>
                      <a:ext uri="{FF2B5EF4-FFF2-40B4-BE49-F238E27FC236}">
                        <a16:creationId xmlns:a16="http://schemas.microsoft.com/office/drawing/2014/main" id="{900F0D3B-8FD8-DA61-757E-4A64A272F446}"/>
                      </a:ext>
                    </a:extLst>
                  </p:cNvPr>
                  <p:cNvSpPr/>
                  <p:nvPr/>
                </p:nvSpPr>
                <p:spPr>
                  <a:xfrm>
                    <a:off x="8920429" y="3822645"/>
                    <a:ext cx="1531620" cy="146304"/>
                  </a:xfrm>
                  <a:prstGeom prst="roundRect">
                    <a:avLst/>
                  </a:prstGeom>
                  <a:solidFill>
                    <a:srgbClr val="364760"/>
                  </a:solidFill>
                  <a:ln w="12700">
                    <a:solidFill>
                      <a:srgbClr val="36476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28" name="Rounded Rectangle 33">
                    <a:extLst>
                      <a:ext uri="{FF2B5EF4-FFF2-40B4-BE49-F238E27FC236}">
                        <a16:creationId xmlns:a16="http://schemas.microsoft.com/office/drawing/2014/main" id="{DDE97149-8EDC-280A-666C-B4822B138BAD}"/>
                      </a:ext>
                    </a:extLst>
                  </p:cNvPr>
                  <p:cNvSpPr/>
                  <p:nvPr/>
                </p:nvSpPr>
                <p:spPr>
                  <a:xfrm>
                    <a:off x="8920429" y="3807934"/>
                    <a:ext cx="45719" cy="161015"/>
                  </a:xfrm>
                  <a:prstGeom prst="roundRect">
                    <a:avLst/>
                  </a:prstGeom>
                  <a:solidFill>
                    <a:srgbClr val="FFAA4A"/>
                  </a:solidFill>
                  <a:ln w="12700">
                    <a:solidFill>
                      <a:srgbClr val="FFAA4A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</p:grp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7861B83-6C9E-5688-7948-4C9D39F41207}"/>
                    </a:ext>
                  </a:extLst>
                </p:cNvPr>
                <p:cNvSpPr txBox="1"/>
                <p:nvPr/>
              </p:nvSpPr>
              <p:spPr>
                <a:xfrm>
                  <a:off x="10544092" y="3544696"/>
                  <a:ext cx="389594" cy="190821"/>
                </a:xfrm>
                <a:prstGeom prst="rect">
                  <a:avLst/>
                </a:prstGeom>
                <a:noFill/>
              </p:spPr>
              <p:txBody>
                <a:bodyPr wrap="none" lIns="18288" tIns="18288" rIns="18288" bIns="18288" anchor="t">
                  <a:spAutoFit/>
                </a:bodyPr>
                <a:lstStyle/>
                <a:p>
                  <a:pPr algn="r"/>
                  <a:r>
                    <a:rPr lang="en-IN" sz="1000" b="1" dirty="0">
                      <a:latin typeface="Aptos"/>
                    </a:rPr>
                    <a:t>1.07%</a:t>
                  </a:r>
                  <a:endParaRPr sz="1000" b="1" dirty="0">
                    <a:latin typeface="Aptos"/>
                  </a:endParaRPr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EBB7195-2015-FDDB-86EF-F5BCC1FAF348}"/>
                  </a:ext>
                </a:extLst>
              </p:cNvPr>
              <p:cNvSpPr txBox="1"/>
              <p:nvPr/>
            </p:nvSpPr>
            <p:spPr>
              <a:xfrm>
                <a:off x="8001961" y="3582238"/>
                <a:ext cx="804772" cy="190821"/>
              </a:xfrm>
              <a:prstGeom prst="rect">
                <a:avLst/>
              </a:prstGeom>
              <a:noFill/>
            </p:spPr>
            <p:txBody>
              <a:bodyPr wrap="none" lIns="18288" tIns="18288" rIns="18288" bIns="18288" anchor="t">
                <a:spAutoFit/>
              </a:bodyPr>
              <a:lstStyle/>
              <a:p>
                <a:pPr algn="l"/>
                <a:r>
                  <a:rPr lang="en-IN" sz="1000" b="1" dirty="0">
                    <a:latin typeface="Aptos"/>
                  </a:rPr>
                  <a:t>WASTE COST</a:t>
                </a:r>
                <a:endParaRPr sz="1000" b="1" dirty="0">
                  <a:latin typeface="Apto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573F7D9-08B3-FB6E-6270-69C4F959ECA3}"/>
                </a:ext>
              </a:extLst>
            </p:cNvPr>
            <p:cNvGrpSpPr/>
            <p:nvPr/>
          </p:nvGrpSpPr>
          <p:grpSpPr>
            <a:xfrm>
              <a:off x="8022911" y="4105733"/>
              <a:ext cx="2970197" cy="190821"/>
              <a:chOff x="7963489" y="3897925"/>
              <a:chExt cx="2970197" cy="190821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74325128-242D-A22A-02C7-8AE68B7A8227}"/>
                  </a:ext>
                </a:extLst>
              </p:cNvPr>
              <p:cNvGrpSpPr/>
              <p:nvPr/>
            </p:nvGrpSpPr>
            <p:grpSpPr>
              <a:xfrm>
                <a:off x="8930834" y="3897925"/>
                <a:ext cx="2002852" cy="190821"/>
                <a:chOff x="8930834" y="3897925"/>
                <a:chExt cx="2002852" cy="190821"/>
              </a:xfrm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25ADF94D-A062-EEA5-0B6D-14792B471EC3}"/>
                    </a:ext>
                  </a:extLst>
                </p:cNvPr>
                <p:cNvGrpSpPr/>
                <p:nvPr/>
              </p:nvGrpSpPr>
              <p:grpSpPr>
                <a:xfrm>
                  <a:off x="8930834" y="3924046"/>
                  <a:ext cx="1531620" cy="146304"/>
                  <a:chOff x="8920429" y="4069080"/>
                  <a:chExt cx="1531620" cy="146304"/>
                </a:xfrm>
              </p:grpSpPr>
              <p:sp>
                <p:nvSpPr>
                  <p:cNvPr id="22" name="Rounded Rectangle 32">
                    <a:extLst>
                      <a:ext uri="{FF2B5EF4-FFF2-40B4-BE49-F238E27FC236}">
                        <a16:creationId xmlns:a16="http://schemas.microsoft.com/office/drawing/2014/main" id="{BEF3508B-4F1F-5F01-96FF-059AADC2A813}"/>
                      </a:ext>
                    </a:extLst>
                  </p:cNvPr>
                  <p:cNvSpPr/>
                  <p:nvPr/>
                </p:nvSpPr>
                <p:spPr>
                  <a:xfrm>
                    <a:off x="8920429" y="4069080"/>
                    <a:ext cx="1531620" cy="146304"/>
                  </a:xfrm>
                  <a:prstGeom prst="roundRect">
                    <a:avLst/>
                  </a:prstGeom>
                  <a:solidFill>
                    <a:srgbClr val="364760"/>
                  </a:solidFill>
                  <a:ln w="12700">
                    <a:solidFill>
                      <a:srgbClr val="36476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/>
                  </a:p>
                </p:txBody>
              </p:sp>
              <p:sp>
                <p:nvSpPr>
                  <p:cNvPr id="24" name="Rounded Rectangle 33">
                    <a:extLst>
                      <a:ext uri="{FF2B5EF4-FFF2-40B4-BE49-F238E27FC236}">
                        <a16:creationId xmlns:a16="http://schemas.microsoft.com/office/drawing/2014/main" id="{9FCB35C2-9414-AA64-D50F-3EB6772230E5}"/>
                      </a:ext>
                    </a:extLst>
                  </p:cNvPr>
                  <p:cNvSpPr/>
                  <p:nvPr/>
                </p:nvSpPr>
                <p:spPr>
                  <a:xfrm>
                    <a:off x="8920429" y="4069080"/>
                    <a:ext cx="96155" cy="146304"/>
                  </a:xfrm>
                  <a:prstGeom prst="roundRect">
                    <a:avLst/>
                  </a:prstGeom>
                  <a:solidFill>
                    <a:srgbClr val="7030A0"/>
                  </a:solidFill>
                  <a:ln w="12700">
                    <a:solidFill>
                      <a:srgbClr val="7030A0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</p:grp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CF9CDA89-50E0-8A91-B2E5-7A8BFE375DC3}"/>
                    </a:ext>
                  </a:extLst>
                </p:cNvPr>
                <p:cNvSpPr txBox="1"/>
                <p:nvPr/>
              </p:nvSpPr>
              <p:spPr>
                <a:xfrm>
                  <a:off x="10544092" y="3897925"/>
                  <a:ext cx="389594" cy="190821"/>
                </a:xfrm>
                <a:prstGeom prst="rect">
                  <a:avLst/>
                </a:prstGeom>
                <a:noFill/>
              </p:spPr>
              <p:txBody>
                <a:bodyPr wrap="none" lIns="18288" tIns="18288" rIns="18288" bIns="18288" anchor="t">
                  <a:spAutoFit/>
                </a:bodyPr>
                <a:lstStyle/>
                <a:p>
                  <a:pPr algn="r"/>
                  <a:r>
                    <a:rPr lang="en-IN" sz="1000" b="1" dirty="0">
                      <a:latin typeface="Aptos"/>
                    </a:rPr>
                    <a:t>5.99%</a:t>
                  </a:r>
                  <a:endParaRPr sz="1000" b="1" dirty="0">
                    <a:latin typeface="Aptos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63C1F7E-1BDA-28B9-9992-128A342ECE7F}"/>
                  </a:ext>
                </a:extLst>
              </p:cNvPr>
              <p:cNvSpPr txBox="1"/>
              <p:nvPr/>
            </p:nvSpPr>
            <p:spPr>
              <a:xfrm>
                <a:off x="7963489" y="3897925"/>
                <a:ext cx="881716" cy="190821"/>
              </a:xfrm>
              <a:prstGeom prst="rect">
                <a:avLst/>
              </a:prstGeom>
              <a:noFill/>
            </p:spPr>
            <p:txBody>
              <a:bodyPr wrap="none" lIns="18288" tIns="18288" rIns="18288" bIns="18288" anchor="t">
                <a:spAutoFit/>
              </a:bodyPr>
              <a:lstStyle/>
              <a:p>
                <a:pPr algn="l"/>
                <a:r>
                  <a:rPr lang="en-IN" sz="1000" b="1" dirty="0">
                    <a:latin typeface="Aptos"/>
                  </a:rPr>
                  <a:t>LABOUR COST</a:t>
                </a:r>
                <a:endParaRPr sz="1000" b="1" dirty="0">
                  <a:latin typeface="Aptos"/>
                </a:endParaRPr>
              </a:p>
            </p:txBody>
          </p:sp>
        </p:grpSp>
      </p:grpSp>
      <p:pic>
        <p:nvPicPr>
          <p:cNvPr id="77" name="Picture 76">
            <a:extLst>
              <a:ext uri="{FF2B5EF4-FFF2-40B4-BE49-F238E27FC236}">
                <a16:creationId xmlns:a16="http://schemas.microsoft.com/office/drawing/2014/main" id="{D1CF993C-D844-7569-B54E-E56DBABA7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" y="5197922"/>
            <a:ext cx="1674025" cy="913105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41A425F-A91F-C680-335D-3C1E9DABD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338" y="5197922"/>
            <a:ext cx="1691623" cy="92201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69042E2D-DECF-CA18-44FB-ED845484C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234" y="5197922"/>
            <a:ext cx="1742443" cy="92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05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96CA0-0E56-8A08-606F-927C5ADC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9E5478-E821-3DBA-C2C1-1147B2AECC85}"/>
              </a:ext>
            </a:extLst>
          </p:cNvPr>
          <p:cNvSpPr txBox="1"/>
          <p:nvPr/>
        </p:nvSpPr>
        <p:spPr>
          <a:xfrm>
            <a:off x="609600" y="298269"/>
            <a:ext cx="8642174" cy="52937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3200" b="1" dirty="0">
                <a:solidFill>
                  <a:srgbClr val="00589A"/>
                </a:solidFill>
              </a:rPr>
              <a:t>EDA </a:t>
            </a:r>
            <a:r>
              <a:rPr lang="en-IN" sz="3200" b="1" dirty="0">
                <a:solidFill>
                  <a:srgbClr val="00589A"/>
                </a:solidFill>
              </a:rPr>
              <a:t> - MENU &amp; CATEGORY PERFORMANCE</a:t>
            </a:r>
            <a:endParaRPr sz="3200" b="1" dirty="0">
              <a:solidFill>
                <a:srgbClr val="00589A"/>
              </a:solidFill>
            </a:endParaRPr>
          </a:p>
        </p:txBody>
      </p:sp>
      <p:cxnSp>
        <p:nvCxnSpPr>
          <p:cNvPr id="6" name="Connector 4">
            <a:extLst>
              <a:ext uri="{FF2B5EF4-FFF2-40B4-BE49-F238E27FC236}">
                <a16:creationId xmlns:a16="http://schemas.microsoft.com/office/drawing/2014/main" id="{5197A1CE-D52A-DE8F-1937-42214B65F45A}"/>
              </a:ext>
            </a:extLst>
          </p:cNvPr>
          <p:cNvCxnSpPr/>
          <p:nvPr/>
        </p:nvCxnSpPr>
        <p:spPr>
          <a:xfrm>
            <a:off x="609600" y="1203525"/>
            <a:ext cx="11000232" cy="0"/>
          </a:xfrm>
          <a:prstGeom prst="line">
            <a:avLst/>
          </a:prstGeom>
          <a:ln w="12700">
            <a:solidFill>
              <a:srgbClr val="3647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418AC20-8FE5-ABC7-DA8F-7C36913DCC12}"/>
              </a:ext>
            </a:extLst>
          </p:cNvPr>
          <p:cNvSpPr txBox="1"/>
          <p:nvPr/>
        </p:nvSpPr>
        <p:spPr>
          <a:xfrm>
            <a:off x="701040" y="1395548"/>
            <a:ext cx="10592394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IN" sz="1600" dirty="0"/>
              <a:t>Menu analysis identifies categories and individual items contributing significantly to sales volume and revenue.</a:t>
            </a:r>
            <a:endParaRPr sz="1500" b="0" dirty="0">
              <a:latin typeface="Apto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96C975-3068-263A-262C-BF85858A1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1885560"/>
            <a:ext cx="5535104" cy="31055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CC6D1A2-55CE-7C08-FEE4-5BC6C6D80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611" y="1885560"/>
            <a:ext cx="5315692" cy="40582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A94DC17-07E6-3FC1-4746-4B69D7AE1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70" y="5169789"/>
            <a:ext cx="1603367" cy="9501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35B2D5B-0419-FBF3-1DE8-3FB7103B4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2652" y="5197922"/>
            <a:ext cx="1742443" cy="92201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7C0CA0F-F884-6B93-918A-F004CE9E75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0610" y="5218097"/>
            <a:ext cx="1742443" cy="90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06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44">
            <a:extLst>
              <a:ext uri="{FF2B5EF4-FFF2-40B4-BE49-F238E27FC236}">
                <a16:creationId xmlns:a16="http://schemas.microsoft.com/office/drawing/2014/main" id="{185D2440-FDE5-CB23-1A92-22A79BC94826}"/>
              </a:ext>
            </a:extLst>
          </p:cNvPr>
          <p:cNvSpPr txBox="1"/>
          <p:nvPr/>
        </p:nvSpPr>
        <p:spPr>
          <a:xfrm>
            <a:off x="804672" y="210312"/>
            <a:ext cx="106070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8273A"/>
                </a:solidFill>
              </a:defRPr>
            </a:pPr>
            <a:r>
              <a:rPr dirty="0">
                <a:solidFill>
                  <a:srgbClr val="00589A"/>
                </a:solidFill>
              </a:rPr>
              <a:t>Dashboard Page 1 </a:t>
            </a:r>
            <a:r>
              <a:rPr lang="en-IN" dirty="0">
                <a:solidFill>
                  <a:srgbClr val="00589A"/>
                </a:solidFill>
              </a:rPr>
              <a:t>-</a:t>
            </a:r>
            <a:r>
              <a:rPr dirty="0">
                <a:solidFill>
                  <a:srgbClr val="00589A"/>
                </a:solidFill>
              </a:rPr>
              <a:t> </a:t>
            </a:r>
            <a:r>
              <a:rPr lang="en-IN" sz="2500" b="1" dirty="0">
                <a:solidFill>
                  <a:srgbClr val="00589A"/>
                </a:solidFill>
              </a:rPr>
              <a:t>Executive Overview</a:t>
            </a:r>
            <a:endParaRPr dirty="0">
              <a:solidFill>
                <a:srgbClr val="00589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3A6166-770A-B9D5-1298-329AD60F82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3"/>
          <a:stretch>
            <a:fillRect/>
          </a:stretch>
        </p:blipFill>
        <p:spPr>
          <a:xfrm>
            <a:off x="780288" y="828884"/>
            <a:ext cx="10179421" cy="53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42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6EF1E-C1A2-40EE-1BAA-476CEA31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44">
            <a:extLst>
              <a:ext uri="{FF2B5EF4-FFF2-40B4-BE49-F238E27FC236}">
                <a16:creationId xmlns:a16="http://schemas.microsoft.com/office/drawing/2014/main" id="{E9900141-2E0D-815D-C344-87265CFF8F98}"/>
              </a:ext>
            </a:extLst>
          </p:cNvPr>
          <p:cNvSpPr txBox="1"/>
          <p:nvPr/>
        </p:nvSpPr>
        <p:spPr>
          <a:xfrm>
            <a:off x="804672" y="210312"/>
            <a:ext cx="106070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8273A"/>
                </a:solidFill>
              </a:defRPr>
            </a:pPr>
            <a:r>
              <a:rPr dirty="0">
                <a:solidFill>
                  <a:srgbClr val="00589A"/>
                </a:solidFill>
              </a:rPr>
              <a:t>Dashboard Page </a:t>
            </a:r>
            <a:r>
              <a:rPr lang="en-IN" dirty="0">
                <a:solidFill>
                  <a:srgbClr val="00589A"/>
                </a:solidFill>
              </a:rPr>
              <a:t>2</a:t>
            </a:r>
            <a:r>
              <a:rPr dirty="0">
                <a:solidFill>
                  <a:srgbClr val="00589A"/>
                </a:solidFill>
              </a:rPr>
              <a:t> </a:t>
            </a:r>
            <a:r>
              <a:rPr lang="en-IN" dirty="0">
                <a:solidFill>
                  <a:srgbClr val="00589A"/>
                </a:solidFill>
              </a:rPr>
              <a:t>-</a:t>
            </a:r>
            <a:r>
              <a:rPr dirty="0">
                <a:solidFill>
                  <a:srgbClr val="00589A"/>
                </a:solidFill>
              </a:rPr>
              <a:t> </a:t>
            </a:r>
            <a:r>
              <a:rPr lang="en-IN" sz="2500" b="1" dirty="0">
                <a:solidFill>
                  <a:srgbClr val="00589A"/>
                </a:solidFill>
              </a:rPr>
              <a:t>Branch &amp; Operations</a:t>
            </a:r>
            <a:endParaRPr dirty="0">
              <a:solidFill>
                <a:srgbClr val="00589A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B87231-6E1F-4652-FF1F-CDE91B671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8" y="828883"/>
            <a:ext cx="10179421" cy="53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52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B8554-1633-AA3B-BBAF-523AC85F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44">
            <a:extLst>
              <a:ext uri="{FF2B5EF4-FFF2-40B4-BE49-F238E27FC236}">
                <a16:creationId xmlns:a16="http://schemas.microsoft.com/office/drawing/2014/main" id="{D4EC1F55-61B1-3FB5-0CB2-77043CCD678E}"/>
              </a:ext>
            </a:extLst>
          </p:cNvPr>
          <p:cNvSpPr txBox="1"/>
          <p:nvPr/>
        </p:nvSpPr>
        <p:spPr>
          <a:xfrm>
            <a:off x="804672" y="210312"/>
            <a:ext cx="106070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8273A"/>
                </a:solidFill>
              </a:defRPr>
            </a:pPr>
            <a:r>
              <a:rPr dirty="0">
                <a:solidFill>
                  <a:srgbClr val="00589A"/>
                </a:solidFill>
              </a:rPr>
              <a:t>Dashboard Page </a:t>
            </a:r>
            <a:r>
              <a:rPr lang="en-IN" dirty="0">
                <a:solidFill>
                  <a:srgbClr val="00589A"/>
                </a:solidFill>
              </a:rPr>
              <a:t>3</a:t>
            </a:r>
            <a:r>
              <a:rPr dirty="0">
                <a:solidFill>
                  <a:srgbClr val="00589A"/>
                </a:solidFill>
              </a:rPr>
              <a:t> </a:t>
            </a:r>
            <a:r>
              <a:rPr lang="en-IN" dirty="0">
                <a:solidFill>
                  <a:srgbClr val="00589A"/>
                </a:solidFill>
              </a:rPr>
              <a:t>–</a:t>
            </a:r>
            <a:r>
              <a:rPr dirty="0">
                <a:solidFill>
                  <a:srgbClr val="00589A"/>
                </a:solidFill>
              </a:rPr>
              <a:t> </a:t>
            </a:r>
            <a:r>
              <a:rPr lang="en-IN" sz="2500" b="1" dirty="0">
                <a:solidFill>
                  <a:srgbClr val="00589A"/>
                </a:solidFill>
              </a:rPr>
              <a:t>Menu &amp; Profitability</a:t>
            </a:r>
            <a:endParaRPr dirty="0">
              <a:solidFill>
                <a:srgbClr val="00589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0F5C55-0FF6-A143-144F-F6BC5185B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8" y="828883"/>
            <a:ext cx="10210305" cy="53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68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E12CD903-05AF-7712-B5CD-1D9FDC28FF4A}"/>
              </a:ext>
            </a:extLst>
          </p:cNvPr>
          <p:cNvSpPr txBox="1"/>
          <p:nvPr/>
        </p:nvSpPr>
        <p:spPr>
          <a:xfrm>
            <a:off x="519525" y="197899"/>
            <a:ext cx="6923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IN" dirty="0">
                <a:solidFill>
                  <a:srgbClr val="00589A"/>
                </a:solidFill>
              </a:rPr>
              <a:t>Key Business Insights: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A8B1F1-3855-7F14-8507-EF06D896B3BB}"/>
              </a:ext>
            </a:extLst>
          </p:cNvPr>
          <p:cNvSpPr txBox="1"/>
          <p:nvPr/>
        </p:nvSpPr>
        <p:spPr>
          <a:xfrm>
            <a:off x="519525" y="1197748"/>
            <a:ext cx="1046442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SALES PERFORMANCE</a:t>
            </a:r>
            <a:br>
              <a:rPr lang="en-IN" sz="1600" dirty="0"/>
            </a:br>
            <a:r>
              <a:rPr lang="en-IN" sz="1600" dirty="0"/>
              <a:t>Revenue and order trends show clear variation across months, highlighting changing demand patterns.</a:t>
            </a:r>
          </a:p>
          <a:p>
            <a:pPr marL="228600" indent="-228600">
              <a:buFont typeface="+mj-lt"/>
              <a:buAutoNum type="arabicPeriod"/>
            </a:pPr>
            <a:endParaRPr lang="en-IN" sz="1000" dirty="0"/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BRANCH PERFORMANCE</a:t>
            </a:r>
            <a:br>
              <a:rPr lang="en-IN" sz="1600" dirty="0"/>
            </a:br>
            <a:r>
              <a:rPr lang="en-IN" sz="1600" dirty="0"/>
              <a:t>Branch-wise analysis identifies differences in revenue, order volume and AOV, helping management focus on branch-level performance.</a:t>
            </a:r>
          </a:p>
          <a:p>
            <a:pPr marL="228600" indent="-228600">
              <a:buFont typeface="+mj-lt"/>
              <a:buAutoNum type="arabicPeriod"/>
            </a:pPr>
            <a:endParaRPr lang="en-IN" sz="1000" dirty="0"/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CHANNEL PERFORMANCE</a:t>
            </a:r>
            <a:br>
              <a:rPr lang="en-IN" sz="1600" dirty="0"/>
            </a:br>
            <a:r>
              <a:rPr lang="en-IN" sz="1600" dirty="0"/>
              <a:t>Order channels contribute differently to revenue, while discounts and aggregator commissions affect the net revenue generated.</a:t>
            </a:r>
          </a:p>
          <a:p>
            <a:pPr marL="228600" indent="-228600">
              <a:buFont typeface="+mj-lt"/>
              <a:buAutoNum type="arabicPeriod"/>
            </a:pPr>
            <a:endParaRPr lang="en-IN" sz="1000" dirty="0"/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COST &amp; PROFITABILITY</a:t>
            </a:r>
            <a:br>
              <a:rPr lang="en-IN" sz="1600" dirty="0"/>
            </a:br>
            <a:r>
              <a:rPr lang="en-IN" sz="1600" dirty="0"/>
              <a:t>Food and labour costs are the major components of prime cost, making cost control important for maintaining profitability.</a:t>
            </a:r>
          </a:p>
          <a:p>
            <a:pPr marL="228600" indent="-228600">
              <a:buFont typeface="+mj-lt"/>
              <a:buAutoNum type="arabicPeriod"/>
            </a:pPr>
            <a:endParaRPr lang="en-IN" sz="1000" dirty="0"/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MENU PERFORMANCE</a:t>
            </a:r>
            <a:br>
              <a:rPr lang="en-IN" sz="1600" dirty="0"/>
            </a:br>
            <a:r>
              <a:rPr lang="en-IN" sz="1600" dirty="0"/>
              <a:t>Menu categories and individual items contribute differently to sales volume, revenue and gross margin, supporting data-driven menu optimization.</a:t>
            </a:r>
          </a:p>
          <a:p>
            <a:pPr marL="228600" indent="-228600">
              <a:buFont typeface="+mj-lt"/>
              <a:buAutoNum type="arabicPeriod"/>
            </a:pPr>
            <a:endParaRPr lang="en-IN" sz="1000" dirty="0"/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REVENUE PREDICTION</a:t>
            </a:r>
            <a:br>
              <a:rPr lang="en-IN" sz="1600" dirty="0"/>
            </a:br>
            <a:r>
              <a:rPr lang="en-IN" sz="1600" dirty="0"/>
              <a:t>The Linear Regression model achieved </a:t>
            </a:r>
            <a:r>
              <a:rPr lang="en-IN" sz="1600" b="1" dirty="0"/>
              <a:t>R² = 0.9768</a:t>
            </a:r>
            <a:r>
              <a:rPr lang="en-IN" sz="1600" dirty="0"/>
              <a:t>, with </a:t>
            </a:r>
            <a:r>
              <a:rPr lang="en-IN" sz="1600" b="1" dirty="0"/>
              <a:t>MAE = AED 2,756.69</a:t>
            </a:r>
            <a:r>
              <a:rPr lang="en-IN" sz="1600" dirty="0"/>
              <a:t> and </a:t>
            </a:r>
            <a:r>
              <a:rPr lang="en-IN" sz="1600" b="1" dirty="0"/>
              <a:t>RMSE = AED 3,976.36</a:t>
            </a:r>
            <a:r>
              <a:rPr lang="en-IN" sz="1600" dirty="0"/>
              <a:t>, showing a strong fit on the evaluated dataset.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7998FE-DE20-DBAD-25A8-AA9678EEFC4F}"/>
              </a:ext>
            </a:extLst>
          </p:cNvPr>
          <p:cNvSpPr txBox="1"/>
          <p:nvPr/>
        </p:nvSpPr>
        <p:spPr>
          <a:xfrm>
            <a:off x="594360" y="727553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1E2328"/>
                </a:solidFill>
              </a:rPr>
              <a:t>Business findings from SQL, Databricks and Power BI</a:t>
            </a:r>
          </a:p>
        </p:txBody>
      </p:sp>
    </p:spTree>
    <p:extLst>
      <p:ext uri="{BB962C8B-B14F-4D97-AF65-F5344CB8AC3E}">
        <p14:creationId xmlns:p14="http://schemas.microsoft.com/office/powerpoint/2010/main" val="3676685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0B299-8932-F645-A07F-AB31A422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17E485FF-FE07-21DA-B842-A47DA4340E07}"/>
              </a:ext>
            </a:extLst>
          </p:cNvPr>
          <p:cNvSpPr txBox="1"/>
          <p:nvPr/>
        </p:nvSpPr>
        <p:spPr>
          <a:xfrm>
            <a:off x="519525" y="418236"/>
            <a:ext cx="6923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F3449"/>
                </a:solidFill>
              </a:defRPr>
            </a:lvl1pPr>
          </a:lstStyle>
          <a:p>
            <a:r>
              <a:rPr lang="en-IN" dirty="0">
                <a:solidFill>
                  <a:srgbClr val="00589A"/>
                </a:solidFill>
              </a:rPr>
              <a:t>Recommendations: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D8E080-E314-67E9-FFAF-D478C5340C94}"/>
              </a:ext>
            </a:extLst>
          </p:cNvPr>
          <p:cNvSpPr txBox="1"/>
          <p:nvPr/>
        </p:nvSpPr>
        <p:spPr>
          <a:xfrm>
            <a:off x="519525" y="1597729"/>
            <a:ext cx="1046442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1. BRANCH OPTIMIZATION</a:t>
            </a:r>
          </a:p>
          <a:p>
            <a:r>
              <a:rPr lang="en-US" sz="1600" dirty="0">
                <a:solidFill>
                  <a:srgbClr val="1E2328"/>
                </a:solidFill>
              </a:rPr>
              <a:t>Investigate branches with persistently lower revenue or higher cost ratios.</a:t>
            </a:r>
          </a:p>
          <a:p>
            <a:endParaRPr lang="en-IN" sz="1000" dirty="0"/>
          </a:p>
          <a:p>
            <a:r>
              <a:rPr lang="en-IN" sz="1600" b="1" dirty="0"/>
              <a:t>2. CHANNEL OPTIMIZATION</a:t>
            </a:r>
          </a:p>
          <a:p>
            <a:r>
              <a:rPr lang="en-US" sz="1600" dirty="0">
                <a:solidFill>
                  <a:srgbClr val="1E2328"/>
                </a:solidFill>
              </a:rPr>
              <a:t>Review discount and aggregator commission impact before increasing channel volume.</a:t>
            </a:r>
          </a:p>
          <a:p>
            <a:endParaRPr lang="en-IN" sz="1000" dirty="0"/>
          </a:p>
          <a:p>
            <a:r>
              <a:rPr lang="en-IN" sz="1600" b="1" dirty="0"/>
              <a:t>3. COST CONTROL</a:t>
            </a:r>
          </a:p>
          <a:p>
            <a:r>
              <a:rPr lang="en-US" sz="1600" dirty="0">
                <a:solidFill>
                  <a:srgbClr val="1E2328"/>
                </a:solidFill>
              </a:rPr>
              <a:t>Track food + labour together and focus on branches with consistently high prime cost.</a:t>
            </a:r>
          </a:p>
          <a:p>
            <a:endParaRPr lang="en-IN" sz="1000" dirty="0"/>
          </a:p>
          <a:p>
            <a:r>
              <a:rPr lang="en-IN" sz="1600" b="1" dirty="0"/>
              <a:t>4. MENU OPTIMIZATION</a:t>
            </a:r>
          </a:p>
          <a:p>
            <a:r>
              <a:rPr lang="en-IN" sz="1600" dirty="0"/>
              <a:t>Promote high-margin menu items and review low-margin items based on sales volume, revenue contribution and profitability.</a:t>
            </a:r>
          </a:p>
          <a:p>
            <a:endParaRPr lang="en-IN" sz="1000" dirty="0"/>
          </a:p>
          <a:p>
            <a:r>
              <a:rPr lang="en-IN" sz="1600" b="1" dirty="0"/>
              <a:t>5. OPERATIONAL EFFICIENCY</a:t>
            </a:r>
          </a:p>
          <a:p>
            <a:r>
              <a:rPr lang="en-IN" sz="1600" dirty="0"/>
              <a:t>Use AOV, covers, preparation time and review scores to identify service improvements and operational bottlenecks.</a:t>
            </a:r>
          </a:p>
        </p:txBody>
      </p:sp>
    </p:spTree>
    <p:extLst>
      <p:ext uri="{BB962C8B-B14F-4D97-AF65-F5344CB8AC3E}">
        <p14:creationId xmlns:p14="http://schemas.microsoft.com/office/powerpoint/2010/main" val="3226652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7F510E-2732-28A4-6FC3-17EA88B98348}"/>
              </a:ext>
            </a:extLst>
          </p:cNvPr>
          <p:cNvSpPr txBox="1"/>
          <p:nvPr/>
        </p:nvSpPr>
        <p:spPr>
          <a:xfrm>
            <a:off x="3542370" y="2547151"/>
            <a:ext cx="51072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i="1" dirty="0">
                <a:solidFill>
                  <a:srgbClr val="0058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3832F5-E4D1-ECBB-90A5-4158D358F4CF}"/>
              </a:ext>
            </a:extLst>
          </p:cNvPr>
          <p:cNvSpPr txBox="1"/>
          <p:nvPr/>
        </p:nvSpPr>
        <p:spPr>
          <a:xfrm>
            <a:off x="6512312" y="3655478"/>
            <a:ext cx="1806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-Ekta Grewal</a:t>
            </a:r>
          </a:p>
        </p:txBody>
      </p:sp>
    </p:spTree>
    <p:extLst>
      <p:ext uri="{BB962C8B-B14F-4D97-AF65-F5344CB8AC3E}">
        <p14:creationId xmlns:p14="http://schemas.microsoft.com/office/powerpoint/2010/main" val="3147800140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16589</TotalTime>
  <Words>1925</Words>
  <Application>Microsoft Office PowerPoint</Application>
  <PresentationFormat>Widescreen</PresentationFormat>
  <Paragraphs>392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Calibri</vt:lpstr>
      <vt:lpstr>Open Sans</vt:lpstr>
      <vt:lpstr>PT Sans Narrow</vt:lpstr>
      <vt:lpstr>Raleway</vt:lpstr>
      <vt:lpstr>Tropic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ekta grewal</cp:lastModifiedBy>
  <cp:revision>599</cp:revision>
  <dcterms:created xsi:type="dcterms:W3CDTF">2025-04-04T02:52:34Z</dcterms:created>
  <dcterms:modified xsi:type="dcterms:W3CDTF">2026-09-22T11:34:50Z</dcterms:modified>
</cp:coreProperties>
</file>